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70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365C"/>
                </a:solidFill>
              </a:defRPr>
            </a:pPr>
            <a:r>
              <a:t>AI Procurement Platform – Enterprise Component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45720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Single-slide editable component view aligned to proposed Cloud Run + Apigee + MongoDB + GCS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777240"/>
            <a:ext cx="2057400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804672"/>
            <a:ext cx="191109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6365C"/>
                </a:solidFill>
              </a:defRPr>
            </a:pPr>
            <a:r>
              <a:t>1) Access &amp; 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777240"/>
            <a:ext cx="2514600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804672"/>
            <a:ext cx="2368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6365C"/>
                </a:solidFill>
              </a:defRPr>
            </a:pPr>
            <a:r>
              <a:t>2) Experience Layer (Cloud Run FE)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777240"/>
            <a:ext cx="1783080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804672"/>
            <a:ext cx="16367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6365C"/>
                </a:solidFill>
              </a:defRPr>
            </a:pPr>
            <a:r>
              <a:t>3) API Security &amp;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777240"/>
            <a:ext cx="2514600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804672"/>
            <a:ext cx="2368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6365C"/>
                </a:solidFill>
              </a:defRPr>
            </a:pPr>
            <a:r>
              <a:t>4) Business Services (Cloud Run BE)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777240"/>
            <a:ext cx="2377440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4352" y="804672"/>
            <a:ext cx="22311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6365C"/>
                </a:solidFill>
              </a:defRPr>
            </a:pPr>
            <a:r>
              <a:t>5) Data &amp; Enterprise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1143000"/>
            <a:ext cx="1783080" cy="41148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Internal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1627632"/>
            <a:ext cx="1783080" cy="41148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External Users / Vendors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240280"/>
            <a:ext cx="178308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Cloudflare Edge + WAF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743200"/>
            <a:ext cx="178308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Identity Provider</a:t>
            </a:r>
            <a:br/>
            <a:r>
              <a:t>(SSO / OAuth2)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246120"/>
            <a:ext cx="178308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Application Load Balancer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1143000"/>
            <a:ext cx="214884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Deals App (Angular FE)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1627632"/>
            <a:ext cx="214884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BTLS App (Angular FE)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2112264"/>
            <a:ext cx="214884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PMWEBX App (Angular FE)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2596896"/>
            <a:ext cx="214884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DC Approval App (Angular FE)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081528"/>
            <a:ext cx="214884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Vendor Portal (Angular FE)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703320"/>
            <a:ext cx="2148840" cy="4572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BFF Gateway / Session Adapter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1417320"/>
            <a:ext cx="1417320" cy="5029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Apigee (PSC)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2011680"/>
            <a:ext cx="1417320" cy="5029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JWT Validation</a:t>
            </a:r>
            <a:br/>
            <a:r>
              <a:t>Rate Limits</a:t>
            </a:r>
            <a:br/>
            <a:r>
              <a:t>Policy Enforcement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2697480"/>
            <a:ext cx="1417320" cy="5029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API Product Routing</a:t>
            </a:r>
            <a:br/>
            <a:r>
              <a:t>Audit / Trace IDs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3749039"/>
            <a:ext cx="1417320" cy="4572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Integration Connectors</a:t>
            </a:r>
            <a:br/>
            <a:r>
              <a:t>(P6 / PMWeb APIs)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1097280"/>
            <a:ext cx="2057400" cy="43891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Procurement Orchestrator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1627632"/>
            <a:ext cx="2057400" cy="384048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BOQ Processor 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2057400"/>
            <a:ext cx="2057400" cy="384048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Prequalification Template Agent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2487168"/>
            <a:ext cx="2057400" cy="384048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Vendor Submission Analyzer 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78040" y="2916936"/>
            <a:ext cx="2057400" cy="384048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Deterministic Scoring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3346704"/>
            <a:ext cx="2057400" cy="384048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Vendor Comparison Engine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78040" y="3776472"/>
            <a:ext cx="2057400" cy="384048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Reporting Engine (JSON + HTML/PDF)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78040" y="4297680"/>
            <a:ext cx="2057400" cy="4572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Async Worker / Queue Consumer</a:t>
            </a:r>
            <a:br/>
            <a:r>
              <a:t>(chunking, retries, idempotency)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1097280"/>
            <a:ext cx="201168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Internal Load Balancer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1645920"/>
            <a:ext cx="201168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PMWeb Core Data APIs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2148840"/>
            <a:ext cx="2011680" cy="411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Oracle P6 / Schedule 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84080" y="2880360"/>
            <a:ext cx="2011680" cy="5029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MongoDB</a:t>
            </a:r>
            <a:br/>
            <a:r>
              <a:t>(Application DB + Metadata)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3520440"/>
            <a:ext cx="2011680" cy="5029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12529"/>
                </a:solidFill>
              </a:defRPr>
            </a:pPr>
            <a:r>
              <a:t>GCS</a:t>
            </a:r>
            <a:br/>
            <a:r>
              <a:t>(BOQ/Vendor Asset Files)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84080" y="4251960"/>
            <a:ext cx="2011680" cy="5029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Secret Manager + KMS</a:t>
            </a:r>
            <a:br/>
            <a:r>
              <a:t>(Runtime secrets, key rotation)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4892040"/>
            <a:ext cx="2011680" cy="5029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12529"/>
                </a:solidFill>
              </a:defRPr>
            </a:pPr>
            <a:r>
              <a:t>Audit &amp; Explainability Store</a:t>
            </a:r>
            <a:br/>
            <a:r>
              <a:t>(trace IDs, decisions, confidence)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103120" y="2450592"/>
            <a:ext cx="457200" cy="0"/>
          </a:xfrm>
          <a:prstGeom prst="line">
            <a:avLst/>
          </a:prstGeom>
          <a:ln w="1778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709160" y="2450592"/>
            <a:ext cx="502920" cy="0"/>
          </a:xfrm>
          <a:prstGeom prst="line">
            <a:avLst/>
          </a:prstGeom>
          <a:ln w="1778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629400" y="2450592"/>
            <a:ext cx="548640" cy="0"/>
          </a:xfrm>
          <a:prstGeom prst="line">
            <a:avLst/>
          </a:prstGeom>
          <a:ln w="1778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35440" y="1316736"/>
            <a:ext cx="548640" cy="0"/>
          </a:xfrm>
          <a:prstGeom prst="line">
            <a:avLst/>
          </a:prstGeom>
          <a:ln w="1778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235440" y="3099816"/>
            <a:ext cx="548640" cy="0"/>
          </a:xfrm>
          <a:prstGeom prst="line">
            <a:avLst/>
          </a:prstGeom>
          <a:ln w="1778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235440" y="3739896"/>
            <a:ext cx="548640" cy="0"/>
          </a:xfrm>
          <a:prstGeom prst="line">
            <a:avLst/>
          </a:prstGeom>
          <a:ln w="1778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925312" y="3200400"/>
            <a:ext cx="0" cy="548639"/>
          </a:xfrm>
          <a:prstGeom prst="line">
            <a:avLst/>
          </a:prstGeom>
          <a:ln w="1778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183879" y="1536192"/>
            <a:ext cx="0" cy="2761488"/>
          </a:xfrm>
          <a:prstGeom prst="line">
            <a:avLst/>
          </a:prstGeom>
          <a:ln w="1778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183879" y="4526280"/>
            <a:ext cx="1600201" cy="91440"/>
          </a:xfrm>
          <a:prstGeom prst="line">
            <a:avLst/>
          </a:prstGeom>
          <a:ln w="1778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82880" y="6355080"/>
            <a:ext cx="11795760" cy="3291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Platform Baseline: GitLab CI/CD | SAST/DAST | IaC | Centralized Logging/Monitoring | SLA/SLO | DR/Backup | RBAC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598932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44444"/>
                </a:solidFill>
              </a:defRPr>
            </a:pPr>
            <a:r>
              <a:t>AI modules perform extraction/semantic understanding only; scoring/ranking/qualification remain deterministic and auditable.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