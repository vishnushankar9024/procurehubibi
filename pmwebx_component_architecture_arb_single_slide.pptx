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A5F"/>
                </a:solidFill>
              </a:defRPr>
            </a:pPr>
            <a:r>
              <a:t>PROPOSED ARCHITECTURE – COMPONENT LEVEL VIEW (ARB)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38912"/>
            <a:ext cx="11612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5F"/>
                </a:solidFill>
              </a:defRPr>
            </a:pPr>
            <a:r>
              <a:t>Scope aligned to provided diagram: Internal/External channels, Cloud Run front-ends, Apigee PSC, backend service layer, MongoDB, GCS, and P6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731520"/>
            <a:ext cx="6766560" cy="5806440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" y="749808"/>
            <a:ext cx="66568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3A5F"/>
                </a:solidFill>
              </a:defRPr>
            </a:pPr>
            <a:r>
              <a:t>Access + Application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731520"/>
            <a:ext cx="5074920" cy="5806440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749808"/>
            <a:ext cx="49651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3A5F"/>
                </a:solidFill>
              </a:defRPr>
            </a:pPr>
            <a:r>
              <a:t>PMWEB Data Zone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51560"/>
            <a:ext cx="1188720" cy="347472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Internal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90472"/>
            <a:ext cx="1188720" cy="347472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External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011680"/>
            <a:ext cx="1188720" cy="34747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Cloudflare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468880"/>
            <a:ext cx="1188720" cy="34747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Identity</a:t>
            </a:r>
            <a:br/>
            <a:r>
              <a:t>Provider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926080"/>
            <a:ext cx="1188720" cy="34747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Application</a:t>
            </a:r>
            <a:br/>
            <a:r>
              <a:t>Load Balancer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794760"/>
            <a:ext cx="1188720" cy="34747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Cloudflare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251960"/>
            <a:ext cx="1188720" cy="34747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Identity</a:t>
            </a:r>
            <a:br/>
            <a:r>
              <a:t>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709160"/>
            <a:ext cx="1188720" cy="34747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Application</a:t>
            </a:r>
            <a:br/>
            <a:r>
              <a:t>Load Balancer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960120"/>
            <a:ext cx="2514600" cy="5074920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46504" y="978408"/>
            <a:ext cx="24048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3A5F"/>
                </a:solidFill>
              </a:defRPr>
            </a:pPr>
            <a:r>
              <a:t>Cloud Run Front-end Applications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1280160"/>
            <a:ext cx="2148840" cy="43891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Deals Application Cloud Run</a:t>
            </a:r>
            <a:br/>
            <a:r>
              <a:t>(Angular Front End)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1828800"/>
            <a:ext cx="2148840" cy="43891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BTLS Application Cloud Run</a:t>
            </a:r>
            <a:br/>
            <a:r>
              <a:t>(Angular Front End)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2377440"/>
            <a:ext cx="2148840" cy="43891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PMWEBX Application Cloud Run</a:t>
            </a:r>
            <a:br/>
            <a:r>
              <a:t>(Angular Front End)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2926080"/>
            <a:ext cx="2148840" cy="43891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DC Approval Application Cloud Run</a:t>
            </a:r>
            <a:br/>
            <a:r>
              <a:t>(Angular Front End)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886200"/>
            <a:ext cx="2148840" cy="438912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Vendor Portal Application Cloud Run</a:t>
            </a:r>
            <a:br/>
            <a:r>
              <a:t>(Angular Front End)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097280"/>
            <a:ext cx="1463040" cy="411480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P6 (Oracle)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097280"/>
            <a:ext cx="2697480" cy="685800"/>
          </a:xfrm>
          <a:prstGeom prst="roundRect">
            <a:avLst/>
          </a:prstGeom>
          <a:solidFill>
            <a:srgbClr val="E2EFDA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Apigee (PSC)</a:t>
            </a:r>
            <a:br/>
            <a:r>
              <a:t>(User Auth via JWT + Proxy)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011680"/>
            <a:ext cx="1737360" cy="548640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Cloud Run</a:t>
            </a:r>
            <a:br/>
            <a:r>
              <a:t>(Back End Service Layer)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81360" y="2011680"/>
            <a:ext cx="777240" cy="548640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Internal LB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2743200"/>
            <a:ext cx="2697480" cy="2011680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2761488"/>
            <a:ext cx="25877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3A5F"/>
                </a:solidFill>
              </a:defRPr>
            </a:pPr>
            <a:r>
              <a:t>Backend Microservice Components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999232"/>
            <a:ext cx="1216152" cy="384048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Opportunity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87000" y="2999232"/>
            <a:ext cx="1234440" cy="384048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Vendor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456432"/>
            <a:ext cx="1216152" cy="384048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Evaluation 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7000" y="3456432"/>
            <a:ext cx="1234440" cy="384048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Document 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913632"/>
            <a:ext cx="1216152" cy="384048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Workflow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87000" y="3913632"/>
            <a:ext cx="1234440" cy="384048"/>
          </a:xfrm>
          <a:prstGeom prst="roundRect">
            <a:avLst/>
          </a:prstGeom>
          <a:solidFill>
            <a:srgbClr val="DDEBF7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12529"/>
                </a:solidFill>
              </a:defRPr>
            </a:pPr>
            <a:r>
              <a:t>Notification Service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983480"/>
            <a:ext cx="1417320" cy="658368"/>
          </a:xfrm>
          <a:prstGeom prst="roundRect">
            <a:avLst/>
          </a:prstGeom>
          <a:solidFill>
            <a:srgbClr val="E2EFDA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GCS</a:t>
            </a:r>
            <a:br/>
            <a:r>
              <a:t>(Asset Files)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4983480"/>
            <a:ext cx="1417320" cy="658368"/>
          </a:xfrm>
          <a:prstGeom prst="roundRect">
            <a:avLst/>
          </a:prstGeom>
          <a:solidFill>
            <a:srgbClr val="E2EFDA"/>
          </a:solidFill>
          <a:ln w="1143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212529"/>
                </a:solidFill>
              </a:defRPr>
            </a:pPr>
            <a:r>
              <a:t>MongoDB</a:t>
            </a:r>
            <a:br/>
            <a:r>
              <a:t>(Application DB,</a:t>
            </a:r>
            <a:br/>
            <a:r>
              <a:t>Asset Files Metadata)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508760" y="2596896"/>
            <a:ext cx="365759" cy="493776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508760" y="4105656"/>
            <a:ext cx="365759" cy="768096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023360" y="1444752"/>
            <a:ext cx="4937760" cy="1152144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23360" y="1444752"/>
            <a:ext cx="4937760" cy="2660904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32520" y="1298448"/>
            <a:ext cx="228600" cy="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829800" y="1783080"/>
            <a:ext cx="502920" cy="22860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698480" y="2286000"/>
            <a:ext cx="182880" cy="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829800" y="2560320"/>
            <a:ext cx="0" cy="18288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829800" y="4754880"/>
            <a:ext cx="0" cy="22860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927080" y="4754880"/>
            <a:ext cx="155448" cy="22860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1795760" y="1783080"/>
            <a:ext cx="0" cy="3520440"/>
          </a:xfrm>
          <a:prstGeom prst="line">
            <a:avLst/>
          </a:prstGeom>
          <a:ln w="1651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292840" y="89611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36F7B"/>
                </a:solidFill>
              </a:defRPr>
            </a:pPr>
            <a:r>
              <a:t>PMWEB</a:t>
            </a:r>
            <a:br/>
            <a:r>
              <a:t>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6473952"/>
            <a:ext cx="11978640" cy="256032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>
                <a:solidFill>
                  <a:srgbClr val="FFFFFF"/>
                </a:solidFill>
              </a:defRPr>
            </a:pPr>
            <a:r>
              <a:t>GitLab-based CI/CD | Security Controls: WAF, JWT, Proxy Policies | Operational Controls: Logging, Monitoring, Audit Trails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