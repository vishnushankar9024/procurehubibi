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2B4D"/>
                </a:solidFill>
              </a:defRPr>
            </a:pPr>
            <a:r>
              <a:t>Construction Procurement Platform – Component Architecture (ARB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420624"/>
            <a:ext cx="1170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Scope: PMWeb procurement workflows with AI-assisted understanding and deterministic evaluation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777240"/>
            <a:ext cx="1920240" cy="51206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417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804672"/>
            <a:ext cx="17922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2B4D"/>
                </a:solidFill>
              </a:defRPr>
            </a:pPr>
            <a:r>
              <a:t>A) Channels &amp; Identity Boundary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777240"/>
            <a:ext cx="2148840" cy="51206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417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4288" y="804672"/>
            <a:ext cx="20208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2B4D"/>
                </a:solidFill>
              </a:defRPr>
            </a:pPr>
            <a:r>
              <a:t>B) Experience/BFF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777240"/>
            <a:ext cx="1691640" cy="51206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417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804672"/>
            <a:ext cx="15636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2B4D"/>
                </a:solidFill>
              </a:defRPr>
            </a:pPr>
            <a:r>
              <a:t>C) API Security &amp;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777240"/>
            <a:ext cx="2743200" cy="51206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417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804672"/>
            <a:ext cx="26151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2B4D"/>
                </a:solidFill>
              </a:defRPr>
            </a:pPr>
            <a:r>
              <a:t>D) Domain Services (Cloud Run)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777240"/>
            <a:ext cx="2743200" cy="51206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417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804672"/>
            <a:ext cx="26151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2B4D"/>
                </a:solidFill>
              </a:defRPr>
            </a:pPr>
            <a:r>
              <a:t>E) Data + Enterprise Integrations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1097280"/>
            <a:ext cx="1645920" cy="384048"/>
          </a:xfrm>
          <a:prstGeom prst="roundRect">
            <a:avLst/>
          </a:prstGeom>
          <a:solidFill>
            <a:srgbClr val="FCE4D6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82828"/>
                </a:solidFill>
              </a:defRPr>
            </a:pPr>
            <a:r>
              <a:t>Internal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1527048"/>
            <a:ext cx="1645920" cy="384048"/>
          </a:xfrm>
          <a:prstGeom prst="roundRect">
            <a:avLst/>
          </a:prstGeom>
          <a:solidFill>
            <a:srgbClr val="FCE4D6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82828"/>
                </a:solidFill>
              </a:defRPr>
            </a:pPr>
            <a:r>
              <a:t>External Vendors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048256"/>
            <a:ext cx="1645920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Cloudflare</a:t>
            </a:r>
            <a:br/>
            <a:r>
              <a:t>(WAF + DDoS + TLS)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532888"/>
            <a:ext cx="1645920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Identity Provider</a:t>
            </a:r>
            <a:br/>
            <a:r>
              <a:t>(SSO/OIDC/SAML)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017520"/>
            <a:ext cx="1645920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Application Load Balancer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703320"/>
            <a:ext cx="1645920" cy="777240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282828"/>
                </a:solidFill>
              </a:defRPr>
            </a:pPr>
            <a:r>
              <a:t>Trust Controls:</a:t>
            </a:r>
            <a:br/>
            <a:r>
              <a:t>• MFA / Conditional Access</a:t>
            </a:r>
            <a:br/>
            <a:r>
              <a:t>• Session policies</a:t>
            </a:r>
            <a:br/>
            <a:r>
              <a:t>• IP &amp; bot controls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04872" y="1097280"/>
            <a:ext cx="1783080" cy="347472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Deals FE (Angular)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04872" y="1490472"/>
            <a:ext cx="1783080" cy="347472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BTLS FE (Angular)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04872" y="1883664"/>
            <a:ext cx="1783080" cy="347472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PMWEBX FE (Angular)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04872" y="2276856"/>
            <a:ext cx="1783080" cy="347472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DC Approval 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04872" y="2670048"/>
            <a:ext cx="1783080" cy="347472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Vendor Portal FE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04872" y="3154680"/>
            <a:ext cx="1783080" cy="438912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0">
                <a:solidFill>
                  <a:srgbClr val="282828"/>
                </a:solidFill>
              </a:defRPr>
            </a:pPr>
            <a:r>
              <a:t>BFF / UX Orchestration</a:t>
            </a:r>
            <a:br/>
            <a:r>
              <a:t>(Session + view composition)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04872" y="3703320"/>
            <a:ext cx="1783080" cy="777240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282828"/>
                </a:solidFill>
              </a:defRPr>
            </a:pPr>
            <a:r>
              <a:t>Frontend Controls:</a:t>
            </a:r>
            <a:br/>
            <a:r>
              <a:t>• Input validation</a:t>
            </a:r>
            <a:br/>
            <a:r>
              <a:t>• Anti-CSRF</a:t>
            </a:r>
            <a:br/>
            <a:r>
              <a:t>• Correlation-ID propagation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0872" y="1234440"/>
            <a:ext cx="1353312" cy="457200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82828"/>
                </a:solidFill>
              </a:defRPr>
            </a:pPr>
            <a:r>
              <a:t>Apigee (PSC)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90872" y="1783080"/>
            <a:ext cx="1353312" cy="457200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Policy Engine</a:t>
            </a:r>
            <a:br/>
            <a:r>
              <a:t>JWT / Quota / Spike Arrest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90872" y="2331720"/>
            <a:ext cx="1353312" cy="457200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API Products</a:t>
            </a:r>
            <a:br/>
            <a:r>
              <a:t>Versioning + Contracts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90872" y="2880360"/>
            <a:ext cx="1353312" cy="457200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Observability Gateway</a:t>
            </a:r>
            <a:br/>
            <a:r>
              <a:t>Audit + Trace IDs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3657600"/>
            <a:ext cx="1353312" cy="822960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282828"/>
                </a:solidFill>
              </a:defRPr>
            </a:pPr>
            <a:r>
              <a:t>Security Governance:</a:t>
            </a:r>
            <a:br/>
            <a:r>
              <a:t>• Threat protection</a:t>
            </a:r>
            <a:br/>
            <a:r>
              <a:t>• Standard error model</a:t>
            </a:r>
            <a:br/>
            <a:r>
              <a:t>• Consumer isolation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1051560"/>
            <a:ext cx="2359152" cy="384048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82828"/>
                </a:solidFill>
              </a:defRPr>
            </a:pPr>
            <a:r>
              <a:t>Procurement Orchestrator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1481328"/>
            <a:ext cx="1124712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BOQ Agent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1481328"/>
            <a:ext cx="1124712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Template 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1911095"/>
            <a:ext cx="1124712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Analyzer 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1911095"/>
            <a:ext cx="1124712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Reporting Agent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2340864"/>
            <a:ext cx="1124712" cy="384048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Scoring Engine</a:t>
            </a:r>
            <a:br/>
            <a:r>
              <a:t>(Deterministic)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340864"/>
            <a:ext cx="1124712" cy="384048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Comparison Engine</a:t>
            </a:r>
            <a:br/>
            <a:r>
              <a:t>(Deterministic)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2816352"/>
            <a:ext cx="2359152" cy="438912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AI Provider Abstraction</a:t>
            </a:r>
            <a:br/>
            <a:r>
              <a:t>(OpenAI / Gemini / Mock)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3346704"/>
            <a:ext cx="2359152" cy="475488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282828"/>
                </a:solidFill>
              </a:defRPr>
            </a:pPr>
            <a:r>
              <a:t>Async Processing</a:t>
            </a:r>
            <a:br/>
            <a:r>
              <a:t>Queue workers, chunking, retries, idempotency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3913632"/>
            <a:ext cx="2359152" cy="868680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282828"/>
                </a:solidFill>
              </a:defRPr>
            </a:pPr>
            <a:r>
              <a:t>Service Guardrails:</a:t>
            </a:r>
            <a:br/>
            <a:r>
              <a:t>• No AI-based scoring calculations</a:t>
            </a:r>
            <a:br/>
            <a:r>
              <a:t>• Explainable outputs + evidence refs</a:t>
            </a:r>
            <a:br/>
            <a:r>
              <a:t>• 'Not Provided' on missing data</a:t>
            </a:r>
            <a:br/>
            <a:r>
              <a:t>• Deterministic qualification status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1097280"/>
            <a:ext cx="2359152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Internal LB + Backend Mesh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0" y="1527048"/>
            <a:ext cx="1133856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PMWeb APIs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43616" y="1527048"/>
            <a:ext cx="1133856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Oracle P6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1956816"/>
            <a:ext cx="1133856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MongoDB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43616" y="1956816"/>
            <a:ext cx="1133856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GCS Assets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0" y="2386584"/>
            <a:ext cx="1133856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Secret Manager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43616" y="2386584"/>
            <a:ext cx="1133856" cy="384048"/>
          </a:xfrm>
          <a:prstGeom prst="roundRect">
            <a:avLst/>
          </a:prstGeom>
          <a:solidFill>
            <a:srgbClr val="E2EFFB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0">
                <a:solidFill>
                  <a:srgbClr val="282828"/>
                </a:solidFill>
              </a:defRPr>
            </a:pPr>
            <a:r>
              <a:t>KMS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18320" y="2880360"/>
            <a:ext cx="2359152" cy="502920"/>
          </a:xfrm>
          <a:prstGeom prst="roundRect">
            <a:avLst/>
          </a:prstGeom>
          <a:solidFill>
            <a:srgbClr val="FCE4D6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0" b="0">
                <a:solidFill>
                  <a:srgbClr val="282828"/>
                </a:solidFill>
              </a:defRPr>
            </a:pPr>
            <a:r>
              <a:t>Core Data Sets:</a:t>
            </a:r>
            <a:br/>
            <a:r>
              <a:t>opportunities, opportunitydefinitions, opportunityevaluations, vendor, vendorattachments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18320" y="3474720"/>
            <a:ext cx="2359152" cy="548640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282828"/>
                </a:solidFill>
              </a:defRPr>
            </a:pPr>
            <a:r>
              <a:t>Audit &amp; Compliance:</a:t>
            </a:r>
            <a:br/>
            <a:r>
              <a:t>immutable event trails, decision logs, PII handling controls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18320" y="4133087"/>
            <a:ext cx="2359152" cy="731520"/>
          </a:xfrm>
          <a:prstGeom prst="roundRect">
            <a:avLst/>
          </a:prstGeom>
          <a:solidFill>
            <a:srgbClr val="E2F0D9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0">
                <a:solidFill>
                  <a:srgbClr val="282828"/>
                </a:solidFill>
              </a:defRPr>
            </a:pPr>
            <a:r>
              <a:t>Reliability / Ops:</a:t>
            </a:r>
            <a:br/>
            <a:r>
              <a:t>backup, retention, restore drills, SLOs, alerting, runbooks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965960" y="3200400"/>
            <a:ext cx="438912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029968" y="3063240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41719C"/>
                </a:solidFill>
              </a:defRPr>
            </a:pPr>
            <a:r>
              <a:t>I-01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187952" y="3383280"/>
            <a:ext cx="502920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15968" y="3246120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41719C"/>
                </a:solidFill>
              </a:defRPr>
            </a:pPr>
            <a:r>
              <a:t>I-02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6044184" y="1234440"/>
            <a:ext cx="493776" cy="22860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44768" y="1325880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41719C"/>
                </a:solidFill>
              </a:defRPr>
            </a:pPr>
            <a:r>
              <a:t>I-03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897112" y="1234440"/>
            <a:ext cx="521208" cy="4572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979408" y="111556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41719C"/>
                </a:solidFill>
              </a:defRPr>
            </a:pPr>
            <a:r>
              <a:t>I-04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897112" y="2148840"/>
            <a:ext cx="521208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979408" y="202996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41719C"/>
                </a:solidFill>
              </a:defRPr>
            </a:pPr>
            <a:r>
              <a:t>I-05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897112" y="2606040"/>
            <a:ext cx="521208" cy="0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979408" y="248716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41719C"/>
                </a:solidFill>
              </a:defRPr>
            </a:pPr>
            <a:r>
              <a:t>I-06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994392" y="1956816"/>
            <a:ext cx="0" cy="896112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228832" y="1956816"/>
            <a:ext cx="0" cy="896112"/>
          </a:xfrm>
          <a:prstGeom prst="line">
            <a:avLst/>
          </a:prstGeom>
          <a:ln w="1651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182880" y="5989320"/>
            <a:ext cx="8595360" cy="685800"/>
          </a:xfrm>
          <a:prstGeom prst="roundRect">
            <a:avLst/>
          </a:prstGeom>
          <a:solidFill>
            <a:srgbClr val="F2F2F2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>
                <a:solidFill>
                  <a:srgbClr val="282828"/>
                </a:solidFill>
              </a:defRPr>
            </a:pPr>
            <a:r>
              <a:t>Interface Contracts: I-01 Channel→BFF, I-02 BFF→Apigee, I-03 Apigee→Orchestrator, I-04 Domain→Enterprise APIs, I-05 Domain→Data Stores, I-06 Domain→Secrets/KMS</a:t>
            </a:r>
          </a:p>
          <a:p>
            <a:pPr>
              <a:defRPr sz="819">
                <a:solidFill>
                  <a:srgbClr val="282828"/>
                </a:solidFill>
              </a:defRPr>
            </a:pPr>
            <a:r>
              <a:t>Governance Positioning: AI is restricted to understanding/summarization; scoring, qualification, and ranking remain deterministic by design.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15400" y="5989320"/>
            <a:ext cx="3063240" cy="685800"/>
          </a:xfrm>
          <a:prstGeom prst="roundRect">
            <a:avLst/>
          </a:prstGeom>
          <a:solidFill>
            <a:srgbClr val="E9F5E9"/>
          </a:solidFill>
          <a:ln>
            <a:solidFill>
              <a:srgbClr val="78A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85A28"/>
                </a:solidFill>
              </a:defRPr>
            </a:pPr>
            <a:r>
              <a:t>ARB Review Checklist</a:t>
            </a:r>
            <a:br/>
            <a:r>
              <a:t>✓ Security boundaries  ✓ Data lineage</a:t>
            </a:r>
            <a:br/>
            <a:r>
              <a:t>✓ Deterministic controls  ✓ Operability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