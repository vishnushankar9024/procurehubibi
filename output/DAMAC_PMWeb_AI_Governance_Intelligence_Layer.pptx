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508760"/>
            <a:ext cx="82296" cy="2286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258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97480"/>
            <a:ext cx="9326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546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pic>
        <p:nvPicPr>
          <p:cNvPr id="8" name="Picture 7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8404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52120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814014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18488"/>
            <a:ext cx="67208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Deliver full scoped program in 2–3 months: POC → tender engine → chatbot → governance platform.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572768"/>
            <a:ext cx="406908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73736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0" y="175564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258568"/>
            <a:ext cx="361188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57276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157276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70078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04825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3355848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3355848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4838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831336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1868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2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72768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7099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75688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82496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704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ntr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6824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6519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572768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572768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1682496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14232" y="1700784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048256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46177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6440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92424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6177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1572768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06440" y="1572768"/>
            <a:ext cx="64008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n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682496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28232" y="1700784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048256"/>
            <a:ext cx="54864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167128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2768" y="2258568"/>
            <a:ext cx="3072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6974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971800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72768" y="3063240"/>
            <a:ext cx="3072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502152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77647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2768" y="3867912"/>
            <a:ext cx="3072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30682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725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572768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824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07568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167128"/>
            <a:ext cx="4078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64261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67728" y="2734056"/>
            <a:ext cx="4078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09544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7728" y="3300984"/>
            <a:ext cx="4078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77647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7728" y="3867912"/>
            <a:ext cx="4078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343400"/>
            <a:ext cx="4297680" cy="47548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4343400"/>
            <a:ext cx="64008" cy="4754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434840"/>
            <a:ext cx="4078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3847" y="1627632"/>
            <a:ext cx="91440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75" y="1719072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3575" y="1975104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Dashboards · Chatbot · Approvals · Citations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7831" y="2167128"/>
            <a:ext cx="25603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3847" y="2286000"/>
            <a:ext cx="9144000" cy="53035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23847" y="2286000"/>
            <a:ext cx="64008" cy="5303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3575" y="2377440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33575" y="2633472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Document intelligence · Reasoning · Summarization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7831" y="2825496"/>
            <a:ext cx="25603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3847" y="2944368"/>
            <a:ext cx="91440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3575" y="3035808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3575" y="3291840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Guardrails · Human-in-loop · Audit · Cost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7831" y="3483864"/>
            <a:ext cx="25603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3847" y="3602736"/>
            <a:ext cx="91440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3575" y="3694176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3575" y="3950208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Vector DB · RAG · Ingestion · Versioning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7831" y="4142232"/>
            <a:ext cx="25603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23847" y="4261104"/>
            <a:ext cx="91440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3575" y="4352544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33575" y="4608576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PMWeb APIs · ETL · Schema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7831" y="4800600"/>
            <a:ext cx="25603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3847" y="4919472"/>
            <a:ext cx="914400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3575" y="5010912"/>
            <a:ext cx="89245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33575" y="5266944"/>
            <a:ext cx="89245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System of record — contracts, tenders, projects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23847" y="5504688"/>
            <a:ext cx="9144000" cy="38404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61007" y="5577840"/>
            <a:ext cx="8869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 · Audit Logs · Prompt Logging · Citations · Vector DB · RAG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ra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5274129" cy="868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2532888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32888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609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0837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532888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532888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6609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00837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48456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48456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764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239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534924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648456"/>
            <a:ext cx="64008" cy="9326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77647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23944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11064240" cy="38404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92808"/>
            <a:ext cx="777240" cy="777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0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874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377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81528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064240" cy="4754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2644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630168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184648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1788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44568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572768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2–3 month delivery | slope, phases &amp; timeline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Full program scope delivered in 2–3 months — parallel workstreams where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441448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FFFFFF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0128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9856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1344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1572768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1682496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2832" y="19385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2832" y="2441448"/>
            <a:ext cx="2432304" cy="292608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42832" y="2468880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2832" y="2852928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Governance control plane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Delivery Slope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How capability, effort, and business value accelerate across the program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pic>
        <p:nvPicPr>
          <p:cNvPr id="11" name="Picture 10" descr="delivery_slope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5852160" cy="1170432"/>
          </a:xfrm>
          <a:prstGeom prst="rect">
            <a:avLst/>
          </a:prstGeom>
        </p:spPr>
      </p:pic>
      <p:pic>
        <p:nvPicPr>
          <p:cNvPr id="12" name="Picture 11" descr="delivery_slope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34640"/>
            <a:ext cx="6726115" cy="23317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04688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59612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Target: complete Phases 1–4 in 2–3 months | Accelerated track: ~8–10 weeks with parallel squads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Total program duration: 2–3 months (10–12 weeks)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44368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824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430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0614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758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758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0036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7220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66426" y="2807208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260" y="3172968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9700" y="3291840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3538728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3858768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Full scope (contract POC + tender engine + chatbot + governance platform) within 2–3 months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71616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1616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33104" y="1572768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33104" y="1572768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5984" y="1700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048256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0128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93008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1616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1616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4496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4496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33104" y="3447287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33104" y="3447287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15984" y="3575303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5984" y="3922775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2316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242316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452628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452628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35808" y="516636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5166360"/>
            <a:ext cx="21122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7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7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0414" y="1572768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0414" y="1572768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4" y="170078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4" y="2048256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7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7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7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0414" y="3145536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0414" y="3145536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4" y="32735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4" y="3621024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1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8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2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1109441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72768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by Week 3.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Complete full program scope in 2–3 months (Phases 1–4).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572768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75564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12848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lnSpc>
                <a:spcPct val="120000"/>
              </a:lnSpc>
              <a:spcAft>
                <a:spcPts val="7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22976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61441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mc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128016"/>
            <a:ext cx="1381760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28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CMCS  | 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28816"/>
            <a:ext cx="11094415" cy="1645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27648"/>
            <a:ext cx="74980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Enterprise AI Governance &amp; Intelligence Layer for PMWeb  |  CMCS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2764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