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508760"/>
            <a:ext cx="82296" cy="2286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258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Enterprise AI Governance &amp;</a:t>
            </a:r>
            <a:br/>
            <a:r>
              <a:t>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97480"/>
            <a:ext cx="9326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Governed AI Orchestration — Not Direct AI-to-Database Connectivity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546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Executive Proposal for DAMAC Leadership &amp; Technology Stakeholders</a:t>
            </a:r>
          </a:p>
        </p:txBody>
      </p:sp>
      <p:pic>
        <p:nvPicPr>
          <p:cNvPr id="8" name="Picture 7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38404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52120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Prepared for DAMAC  |  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Boardroom executive briefing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814014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Challenges, opportunity, and transformation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enterprise AI over PMWeb — not uncontrolled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18488"/>
            <a:ext cx="67208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Procurement and commercial workflows on PMWeb generate high-value data trapped in documents and contracts.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summarization and tender analysis create bottlenecks and visibility gaps for leadership.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 accelerates decisions only when deployed as a governed intelligence layer over enterprise truth.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Recommended AI platform: Claude Enterprise behind an Enterprise Orchestration Layer.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Deliver full scoped program in 2–3 months: POC → tender engine → chatbot → governance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572768"/>
            <a:ext cx="406908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73736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21040" y="175564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Strategic 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258568"/>
            <a:ext cx="361188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"AI should explain enterprise truth,</a:t>
            </a:r>
            <a:br/>
            <a:r>
              <a:t>not derive uncontrolled truth."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Operational friction across procurement &amp; commercial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Manual Effort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Heavy manual work in bid packs, BAFO comparisons, and CO approvals.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Executive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lacks trusted summaries of tenders and contracts.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Slow Tender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Decisions delayed by document review and deviation analysis.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Limited Visibility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No on-demand access to project status, unit mix, or vendor insights.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Governance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Risk of shadow AI and ungoverned database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State vs Future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Transformation narrative for boardroom stakeholders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257800" cy="4114800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6B6B6B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contract &amp; tender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Fragmented document repositories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Reactive management reporting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Siloed PMWeb data access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 AI audit trail or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1868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2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72768"/>
            <a:ext cx="5257800" cy="41148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FUTURE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AI-assisted governance &amp;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Enterprise Knowledge Layer + RAG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Executive AI chatbot with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Governed API orchestration to PMWeb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AI Governance 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Opportunity: AI-assisted governance — not ungoverned AI connectivity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Commitment, contracts, management chatbot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Procurement, commercial &amp; management scenarios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82496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704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Commitment / CO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Bid summarization &amp; BAFO comparison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Technical recommendations &amp; benchmarking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Deviations, exclusions &amp; T&amp;C summaries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682496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6519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clause extraction &amp; summarization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Auto-population of PMWeb fields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intelligence repository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56" y="1682496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142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AI Chatbot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Project &amp; package status queries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Building config, unit mix, awards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&amp; subcontractor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1 — Commitment / CO Approval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Accelerate procurement decisions with governed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Bid Summarization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Executive summaries from tender submissions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BAFO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Commercial &amp; technical comparison matrices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Technical Recommendations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Evaluation summaries with citations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Historical Benchmarking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Compare against prior awards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Deviations / Exclusions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Highlight material deviations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T&amp;Cs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Condensed terms for approval committees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 → Ingestion → RAG → Claude Summarization → Human Approval → PMWeb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2 — AI-Assisted Contract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Reduce manual effort with enterprise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49377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5087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Clause Extraction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46177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Payment, LDs, warranties, termination clauses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Mapped to PMWeb contract schema fields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64408"/>
            <a:ext cx="4937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6440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9242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Auto-Population of PMWeb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6177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Governed API writes only — never AI-to-database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Human-in-the-loop before record updates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06440" y="1572768"/>
            <a:ext cx="580644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06440" y="1572768"/>
            <a:ext cx="64008" cy="3108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n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682496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28232" y="170078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2048256"/>
            <a:ext cx="54864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1. Secure contract PDF ingestion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2. OCR, chunking, vector indexing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3. Claude Enterprise extracts clauses &amp; summaries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4. Orchestration validates schema + RBAC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5. Analyst reviews with citations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6. Approved data synced via PMWeb API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Outcome: 60–80% reduction in manual effort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3 — Management AI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Conversational access to governed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/ Package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Pipeline view across developments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Building 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Typology, floors, areas, specifications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Unit Mix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Inventory by type, size, price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Design 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Design criteria and approval status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Awarded 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values, variations, commitments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Performance, awards, risk flags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RBAC-filtered • Citation-linked • Audit-logged • No direct database inference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truth, not uncontrolled inference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Ungoverned connectivity threatens data and decision integrity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SQL/DB credentials create exposure and injection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Fabricated figures or clauses are catastrophic in procurement.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Security Breach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Uncontrolled prompts may leak PII and commercial terms.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Shadow AI bypasses DAMAC policies and data residency.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Traceability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cannot explain how answers were produced.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Inaccurate Answers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Stale embeddings and wrong document versions.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"AI should explain enterprise truth, not derive uncontrolled truth."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Anti-Pattern vs Recommended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Architecture decision with enterprise consequences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120640" cy="3977639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✕  ANTI-PATTERN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167128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1056" y="2249424"/>
            <a:ext cx="3035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6974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2971800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1056" y="3054096"/>
            <a:ext cx="3035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/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50215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776472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91056" y="3858768"/>
            <a:ext cx="3035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306824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725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No RBAC • No citations • No 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572768"/>
            <a:ext cx="525780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✓  RECOMMENDED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075688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2157984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642616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86016" y="2724912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+ Governance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209544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86016" y="3291840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776472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6016" y="3858768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343400"/>
            <a:ext cx="4297680" cy="475488"/>
          </a:xfrm>
          <a:prstGeom prst="roundRect">
            <a:avLst/>
          </a:prstGeom>
          <a:solidFill>
            <a:srgbClr val="FDF2F4"/>
          </a:solidFill>
          <a:ln w="254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86016" y="4425696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API-first orchestration and RAG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intelligence layer — API-first, auditable, cloud-native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06727" y="1609344"/>
            <a:ext cx="877824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34743" y="1691640"/>
            <a:ext cx="8522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4743" y="1938528"/>
            <a:ext cx="852220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Dashboards · Chatbot · Approvals · Citations</a:t>
            </a:r>
          </a:p>
        </p:txBody>
      </p:sp>
      <p:sp>
        <p:nvSpPr>
          <p:cNvPr id="14" name="Isosceles Triangle 13"/>
          <p:cNvSpPr/>
          <p:nvPr/>
        </p:nvSpPr>
        <p:spPr>
          <a:xfrm rot="10800000">
            <a:off x="6022695" y="2112264"/>
            <a:ext cx="146304" cy="91440"/>
          </a:xfrm>
          <a:prstGeom prst="triangle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06727" y="2194560"/>
            <a:ext cx="8778240" cy="493776"/>
          </a:xfrm>
          <a:prstGeom prst="roundRect">
            <a:avLst/>
          </a:prstGeom>
          <a:solidFill>
            <a:srgbClr val="FDF2F4"/>
          </a:solidFill>
          <a:ln w="254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34743" y="2276856"/>
            <a:ext cx="8522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34743" y="2523744"/>
            <a:ext cx="852220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Document intelligence · Reasoning · Summarization</a:t>
            </a:r>
          </a:p>
        </p:txBody>
      </p:sp>
      <p:sp>
        <p:nvSpPr>
          <p:cNvPr id="18" name="Isosceles Triangle 17"/>
          <p:cNvSpPr/>
          <p:nvPr/>
        </p:nvSpPr>
        <p:spPr>
          <a:xfrm rot="10800000">
            <a:off x="6022695" y="2697480"/>
            <a:ext cx="146304" cy="91440"/>
          </a:xfrm>
          <a:prstGeom prst="triangle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06727" y="2779776"/>
            <a:ext cx="877824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34743" y="2862072"/>
            <a:ext cx="8522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34743" y="3108960"/>
            <a:ext cx="852220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Guardrails · Human-in-loop · Audit · Cost control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022695" y="3282696"/>
            <a:ext cx="146304" cy="91440"/>
          </a:xfrm>
          <a:prstGeom prst="triangle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727" y="3364992"/>
            <a:ext cx="877824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34743" y="3447288"/>
            <a:ext cx="8522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34743" y="3694176"/>
            <a:ext cx="852220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Vector DB · RAG · Ingestion · Versioning</a:t>
            </a:r>
          </a:p>
        </p:txBody>
      </p:sp>
      <p:sp>
        <p:nvSpPr>
          <p:cNvPr id="26" name="Isosceles Triangle 25"/>
          <p:cNvSpPr/>
          <p:nvPr/>
        </p:nvSpPr>
        <p:spPr>
          <a:xfrm rot="10800000">
            <a:off x="6022695" y="3867912"/>
            <a:ext cx="146304" cy="91440"/>
          </a:xfrm>
          <a:prstGeom prst="triangle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727" y="3950208"/>
            <a:ext cx="877824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34743" y="4032504"/>
            <a:ext cx="8522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34743" y="4279392"/>
            <a:ext cx="852220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PMWeb APIs · ETL · Schema validation</a:t>
            </a:r>
          </a:p>
        </p:txBody>
      </p:sp>
      <p:sp>
        <p:nvSpPr>
          <p:cNvPr id="30" name="Isosceles Triangle 29"/>
          <p:cNvSpPr/>
          <p:nvPr/>
        </p:nvSpPr>
        <p:spPr>
          <a:xfrm rot="10800000">
            <a:off x="6022695" y="4453128"/>
            <a:ext cx="146304" cy="91440"/>
          </a:xfrm>
          <a:prstGeom prst="triangle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727" y="4535424"/>
            <a:ext cx="8778240" cy="4937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34743" y="4617720"/>
            <a:ext cx="8522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4743" y="4864608"/>
            <a:ext cx="8522208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System of record — contracts, tenders, projects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727" y="5084064"/>
            <a:ext cx="8778240" cy="36576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6455" y="5175504"/>
            <a:ext cx="85587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 · Audit Logs · Prompt Logging · Citations · Vector DB · RAG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RAG &amp; Knowledge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Retrieval-augmented generation with enterprise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7592" y="1618488"/>
            <a:ext cx="12070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1819656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Docs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14600" y="1874520"/>
            <a:ext cx="201168" cy="128016"/>
          </a:xfrm>
          <a:prstGeom prst="rightArrow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97480" y="1618488"/>
            <a:ext cx="12070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056" y="1819656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Ingestion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904488" y="1874520"/>
            <a:ext cx="201168" cy="128016"/>
          </a:xfrm>
          <a:prstGeom prst="rightArrow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87368" y="1618488"/>
            <a:ext cx="12070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23944" y="1819656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Embedding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94376" y="1874520"/>
            <a:ext cx="201168" cy="128016"/>
          </a:xfrm>
          <a:prstGeom prst="rightArrow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77256" y="1618488"/>
            <a:ext cx="12070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13832" y="1819656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684264" y="1874520"/>
            <a:ext cx="201168" cy="128016"/>
          </a:xfrm>
          <a:prstGeom prst="rightArrow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67144" y="1618488"/>
            <a:ext cx="12070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819656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RAG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074152" y="1874520"/>
            <a:ext cx="201168" cy="128016"/>
          </a:xfrm>
          <a:prstGeom prst="rightArrow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57032" y="1618488"/>
            <a:ext cx="1207008" cy="65836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1819656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64040" y="1874520"/>
            <a:ext cx="201168" cy="128016"/>
          </a:xfrm>
          <a:prstGeom prst="rightArrow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46920" y="1618488"/>
            <a:ext cx="12070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83496" y="1819656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Response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2414016"/>
            <a:ext cx="5372100" cy="987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2414016"/>
            <a:ext cx="64008" cy="98755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2542032"/>
            <a:ext cx="50520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Document Ingestion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2889504"/>
            <a:ext cx="50520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PDF, Word, PMWeb exports — OCR and classification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2414016"/>
            <a:ext cx="5372100" cy="987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0780" y="2414016"/>
            <a:ext cx="64008" cy="98755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3660" y="2542032"/>
            <a:ext cx="50520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Orchestration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3660" y="2889504"/>
            <a:ext cx="50520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Policy routing, fallbacks, evaluation hooks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657600"/>
            <a:ext cx="5372100" cy="987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3657600"/>
            <a:ext cx="64008" cy="98755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3785616"/>
            <a:ext cx="50520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Layer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133088"/>
            <a:ext cx="50520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output validation, kill switch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40780" y="3657600"/>
            <a:ext cx="5372100" cy="987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40780" y="3657600"/>
            <a:ext cx="64008" cy="98755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23660" y="3785616"/>
            <a:ext cx="50520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APIs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23660" y="4133088"/>
            <a:ext cx="50520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Read via APIs; write only after human approval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recommendation: Claude Enterprise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evaluation — single recommended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Enterprise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GPT-5/4.1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Document Summarization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Analysis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Hallucination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Governance Capability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1M–2M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 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PMWeb Fit (DAMAC)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504688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59612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Recommendation: Claude Enterprise — best fit for contract, tender &amp; document intelligence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enterprise AI standard for DAMAC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11064240" cy="38404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92808"/>
            <a:ext cx="777240" cy="7772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0"/>
            <a:ext cx="1417320" cy="329184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1874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377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81528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Primary enterprise AI for DAMAC PMWeb governance layer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Industry-leading document &amp; contract summarization with long context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Lowest hallucination risk for legal, commercial, and procurement 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Strong enterprise governance: RBAC integration, audit, data controls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Consistent model family (Haiku / Sonnet / Opus) for cost-tiered workloads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Unified vendor relationship simplifies security review and DPAs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064240" cy="4754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One platform. One governance model. Orchestration layer routes Haiku → Sonnet → Opus by task complexity.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Enterprise Pricing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Claude-centric cost model and scenarios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 API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Per-million-token rates — primary cost model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DAMAC 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Retrieval, classification, chatbot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&amp; tender summarization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Complex contracts, executive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26440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Reference pricing (May 2026 indicative). Competitors shown for context only.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630168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Comparable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$8.80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84648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standardizes on Claude — no multi-vendor routing complexity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caching: up to 90% savings on repeated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reduces tokens sent to Sonnet/Opus by pre-filtering relevant chunks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Monthly Enterprise Cost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Realistic DAMAC workloads — Claude Enterprise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Monthly (USD)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1,000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+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$8,500 – $14,000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Summarizations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 / month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(long docs)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$4,200 – $7,500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Management Chatbot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500 users × 20 queries/day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+ 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$5,500 – $10,500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Combined (Phase 3)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workloads + caching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Tiered routing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$16,000 – $28,000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Platform (Phase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+ governance infra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$30,000 – $48,000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178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Cost Optimization Strategies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44568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 for repeated tender and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Haiku for retrieval and chatbot triage; Sonnet for synthesis; Opus for complex packs only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architecture limits context sent to premium models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Batch off-peak processing for non-urgent summarization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Per-Use-Case Cost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Business case validation — Claude Enterprise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Assumption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/ Unit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 Est.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~80K in / 4K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BAFO pack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~200K in / 8K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Chatbot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~2K in / 500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~120K in / 6K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36576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49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Scenarios: 1,000 contracts + 200 tenders + 500 chatbot users ≈ $22,000 – $26,000 / month at scale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2–3 month delivery | slope, phases &amp; timeline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Full program scope delivered in 2–3 months — parallel workstreams where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Summarization POC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441448"/>
            <a:ext cx="2432304" cy="29260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API integration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RAG MVP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Claude extraction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Approval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0128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Tender Recommendation Engine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9856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BAFO automation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 detection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Benchmarking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AI Chatbot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1344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1344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Management queries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RBAC +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500-user pilot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sync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2832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42832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42832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2832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audit &amp; compliance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Governance control plane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DAMAC AI standards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Delivery Slope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How capability, effort, and business value accelerate across the program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delivery_slope_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5852160" cy="1170432"/>
          </a:xfrm>
          <a:prstGeom prst="rect">
            <a:avLst/>
          </a:prstGeom>
        </p:spPr>
      </p:pic>
      <p:pic>
        <p:nvPicPr>
          <p:cNvPr id="12" name="Picture 11" descr="delivery_slope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34640"/>
            <a:ext cx="6726115" cy="2331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04688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59612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Target: complete Phases 1–4 in 2–3 months | Accelerated track: ~8–10 weeks with parallel squads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Total program duration: 2–3 months (10–12 weeks)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44368"/>
            <a:ext cx="11064240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824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Contract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430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0614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758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758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Tender Engine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0036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7220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Chatbot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6642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3826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2970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Full scope (contract POC + tender engine + chatbot + governance platform) within 2–3 months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RBAC, audit, human-in-the-loop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controls aligned to DAMAC policies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Aligned to PMWeb permissions — procurement, commercial, executive.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0128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Who asked, which documents, which model, which output.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71616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71616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capture for compliance and incident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3104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33104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Approved models, data rules, output validation gates.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Mandatory approval before PMWeb writes.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0128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encryption, UAE residency options.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71616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1616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4496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DAMAC 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54496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SSO, retention policies, vendor DPAs, SOC2 providers.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33104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833104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15984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Secure APIs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5984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API gateway, mTLS, vault — zero DB credentials to AI.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Governance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Centralized policy enforcement across all workloads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520440"/>
            <a:ext cx="2743200" cy="10515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377647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  <a:br/>
            <a:r>
              <a:t>Control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414016"/>
            <a:ext cx="20756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 &amp; SSO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414016"/>
            <a:ext cx="20756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4517136"/>
            <a:ext cx="20756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34856" y="4517136"/>
            <a:ext cx="20756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Model Allowlist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54096" y="5157216"/>
            <a:ext cx="20756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5157216"/>
            <a:ext cx="20756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Classification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DAMAC AI Governance Platform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Enterprise-wide procurement and project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Predictive Procurement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Pricing trends, bid competitiveness, award outcomes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Risk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and subcontractor risk across portfolio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SLA compliance and anomaly patterns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Unusual pricing, scope gaps, compliance deviations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Cross-project cost, schedule, design insights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Copilots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advisors for CEO, CFO, procurement leadership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Vision: DAMAC AI Governance Platform — trusted intelligence for all enterprise decisions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Decision ask and next steps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Consulting conclusion — governed enterprise AI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72768"/>
            <a:ext cx="6583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Build the Enterprise AI Orchestration Layer first — before production AI workloads.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Avoid direct AI-to-database architecture — API-first governed PMWeb connectivity only.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Standardize on Claude Enterprise as the enterprise AI platform for PMWeb intelligence.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Deploy AI as a governed layer that explains enterprise truth with citations.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Start with Contract Intelligence POC (Phase 1) — demonstrable value by Week 3.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Complete full program scope in 2–3 months (Phases 1–4).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572768"/>
            <a:ext cx="4114800" cy="32004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75564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Decision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212848"/>
            <a:ext cx="37490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Phase 1 POC budget &amp; team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Nominate DAMAC executive sponsor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Confirm PMWeb API access scope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Claude Enterprise as AI standard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Establish AI governance steering committee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Build the intelligence layer that governs how AI serves DAMAC — not ungoverned connectivity.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Enterprise AI Governance &amp; 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CMCS  |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