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508760"/>
            <a:ext cx="82296" cy="2286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97480"/>
            <a:ext cx="9326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546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pic>
        <p:nvPicPr>
          <p:cNvPr id="8" name="Picture 7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8404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212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6420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07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1907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Executive Summary &amp; Current vs Future State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8483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214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13969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DAMAC PMWeb Use 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50545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420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5603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Why Direct AI-to-PMWeb Is Risky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92608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626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298094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Recommended Enterprise Architecture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4670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3832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4015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AI Model Comparison &amp; Recommendation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6732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80390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82219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Enterprise Pricing &amp; Cost Optimization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8795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4242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Phased Implementation 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0857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6451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46634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Security, Governance &amp; Controls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02920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06577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" y="508406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Future Vision — DAMAC AI Governance Platform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44982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4864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550468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2D2D2D"/>
                </a:solidFill>
                <a:latin typeface="Calibri"/>
              </a:defRPr>
            </a:pPr>
            <a:r>
              <a:t> Final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18488"/>
            <a:ext cx="67208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Deliver full scoped program in 2–3 months: POC → tender engine → chatbot → governance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572768"/>
            <a:ext cx="406908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73736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0" y="175564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58568"/>
            <a:ext cx="361188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1868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2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72768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82496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704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6824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6519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1682496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142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46177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6440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9242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6177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1572768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06440" y="1572768"/>
            <a:ext cx="64008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n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682496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28232" y="170078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048256"/>
            <a:ext cx="54864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167128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36192" y="2258568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6974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971800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6192" y="3063240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50215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77647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36192" y="3867912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30682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72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572768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07568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2167128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4261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2734056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09544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3300984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77647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386791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343400"/>
            <a:ext cx="4297680" cy="47548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4434840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572768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664208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1956816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Dashboards • Chatbot • Approvals • Citations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13969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2231136"/>
            <a:ext cx="8961120" cy="56692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1952" y="2322576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615184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Document intelligence • Reasoning • Summarization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79806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889504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1952" y="2980944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3273552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Guardrails • Human-in-loop • Audit • Cost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345643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3547872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01952" y="3639312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20" y="3931920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Vector DB • RAG • Ingestion • Versioning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411480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4206240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01952" y="4297680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590288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PMWeb APIs • ETL • Schema 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77316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864608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4956048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20" y="5248656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System of record — contracts, tenders, projects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  |  Audit Logs  |  Prompt Logging  |  Citations  |  Vector DB  |  RAG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47672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0824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83864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7016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3208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6248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709928"/>
            <a:ext cx="1325880" cy="8686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5592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002536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28632" y="1709928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01784" y="1801368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807208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2807208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293522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282696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807208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2807208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93522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282696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950208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950208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7822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425696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3950208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3950208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07822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425696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70916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80060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11064240" cy="38404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92808"/>
            <a:ext cx="777240" cy="777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0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874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377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81528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64240" cy="4754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2644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630168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84648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178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44568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2–3 month delivery | slope, phases &amp; timeline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Full program scope delivered in 2–3 months — parallel workstreams where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441448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0128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1344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2832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2832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42832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2832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Governance control plane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Delivery Slope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How capability, effort, and business value accelerate across the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12064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965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What Is the Delivery Slope?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48006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The slope is the rate at which DAMAC gains governed AI capability and business value.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Early weeks: foundation (APIs, RAG, governance shell) — lower visible value, critical risk reduction.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Mid program: steepening slope — tender intelligence and chatbot drive executive visibility.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Final weeks: plateau toward enterprise standard — full governance platform operational.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572768"/>
            <a:ext cx="5257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1572768"/>
            <a:ext cx="64008" cy="1965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70078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Slope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48256"/>
            <a:ext cx="493776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Technical maturity: POC → production orchestration → enterprise control plane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User adoption: analyst pilots → procurement teams → executive management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Governance rigor: basic audit → RBAC + citations → full compliance &amp; HITL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Business value: time saved on contracts → tender cycle compression → portfolio intelligence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11064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86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Value &amp; Capability Ramp (2–3 Month Program)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6007608"/>
            <a:ext cx="10058400" cy="27432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270248"/>
            <a:ext cx="27432" cy="173736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6B6B6B"/>
                </a:solidFill>
                <a:latin typeface="Calibri"/>
              </a:defRPr>
            </a:pPr>
            <a:r>
              <a:t>Value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5625389"/>
            <a:ext cx="2336292" cy="38221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6053328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Wk 1–3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369357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Foundation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34740" y="5225796"/>
            <a:ext cx="2336292" cy="7818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4740" y="6053328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Wk 4–6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4740" y="4969764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Accelerate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4756709"/>
            <a:ext cx="2336292" cy="1250899"/>
          </a:xfrm>
          <a:prstGeom prst="roundRect">
            <a:avLst/>
          </a:prstGeom>
          <a:solidFill>
            <a:srgbClr val="E31837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6053328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Wk 7–9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500677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Steep climb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26780" y="4270248"/>
            <a:ext cx="2336292" cy="1737360"/>
          </a:xfrm>
          <a:prstGeom prst="roundRect">
            <a:avLst/>
          </a:prstGeom>
          <a:solidFill>
            <a:srgbClr val="E31837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26780" y="6053328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Wk 10–12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6780" y="4014216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4133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↗ Delivery Slope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6263640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Month 1          Month 2          Month 3  (10–12 weeks total)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Target: complete Phases 1–4 in 2–3 months | Accelerated track: ~8–10 weeks with parallel squads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Total program duration: 2–3 months (10–12 weeks)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44368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824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430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0614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758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0036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6642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26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970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Full scope (contract POC + tender engine + chatbot + governance platform) within 2–3 months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71616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1616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0128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1616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1616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4496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33104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33104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5984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5984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923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by Week 3.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Complete full program scope in 2–3 months (Phases 1–4).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572768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7556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12848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CMCS  |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