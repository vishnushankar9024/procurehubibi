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" y="1371600"/>
            <a:ext cx="3657600" cy="320040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4114800"/>
            <a:ext cx="3657600" cy="228600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11680"/>
            <a:ext cx="109728" cy="25603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Enterprise AI Governance &amp;</a:t>
            </a:r>
            <a:br/>
            <a:r>
              <a:t>Intelligence Layer for PMWeb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4D6A"/>
                </a:solidFill>
                <a:latin typeface="Calibri"/>
              </a:defRPr>
            </a:pPr>
            <a:r>
              <a:t>Governed AI Orchestration — Not Direct AI-to-Database Connectivity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389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A9A9A"/>
                </a:solidFill>
                <a:latin typeface="Calibri"/>
              </a:defRPr>
            </a:pPr>
            <a:r>
              <a:t>Executive Proposal for DAMAC Leadership &amp; Technology Stakeholders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69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C8"/>
                </a:solidFill>
                <a:latin typeface="Calibri"/>
              </a:defRPr>
            </a:pPr>
            <a:r>
              <a:t>Prepared for: DAMAC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5669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C8C8C8"/>
                </a:solidFill>
                <a:latin typeface="Calibri"/>
              </a:defRPr>
            </a:pPr>
            <a:r>
              <a:t>CMCS | May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CMCS | DAMAC AI Transformation Proposal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Boardroom executive briefing 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502920" cy="384048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33172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34086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C8"/>
                </a:solidFill>
                <a:latin typeface="Calibri"/>
              </a:defRPr>
            </a:pPr>
            <a:r>
              <a:t>Executive Summary &amp; Current vs Future State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24912"/>
            <a:ext cx="502920" cy="384048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277063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79776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C8"/>
                </a:solidFill>
                <a:latin typeface="Calibri"/>
              </a:defRPr>
            </a:pPr>
            <a:r>
              <a:t>DAMAC PMWeb Use Cases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163824"/>
            <a:ext cx="502920" cy="384048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3209544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21868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C8"/>
                </a:solidFill>
                <a:latin typeface="Calibri"/>
              </a:defRPr>
            </a:pPr>
            <a:r>
              <a:t>Why Direct AI-to-PMWeb Is Risky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602736"/>
            <a:ext cx="502920" cy="384048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364845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6576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C8"/>
                </a:solidFill>
                <a:latin typeface="Calibri"/>
              </a:defRPr>
            </a:pPr>
            <a:r>
              <a:t>Recommended Enterprise Architecture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041648"/>
            <a:ext cx="502920" cy="384048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408736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09651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C8"/>
                </a:solidFill>
                <a:latin typeface="Calibri"/>
              </a:defRPr>
            </a:pPr>
            <a:r>
              <a:t>AI Model Comparison &amp; Recommendation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80560"/>
            <a:ext cx="502920" cy="384048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452628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535424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C8"/>
                </a:solidFill>
                <a:latin typeface="Calibri"/>
              </a:defRPr>
            </a:pPr>
            <a:r>
              <a:t>Enterprise Pricing &amp; Cost Optimization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919472"/>
            <a:ext cx="502920" cy="384048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" y="496519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974336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C8"/>
                </a:solidFill>
                <a:latin typeface="Calibri"/>
              </a:defRPr>
            </a:pPr>
            <a:r>
              <a:t>Phased Implementation Strategy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58384"/>
            <a:ext cx="502920" cy="384048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5404104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413248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C8"/>
                </a:solidFill>
                <a:latin typeface="Calibri"/>
              </a:defRPr>
            </a:pPr>
            <a:r>
              <a:t>Security, Governance &amp; Controls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797296"/>
            <a:ext cx="502920" cy="384048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2648" y="5843016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58521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C8"/>
                </a:solidFill>
                <a:latin typeface="Calibri"/>
              </a:defRPr>
            </a:pPr>
            <a:r>
              <a:t>Future Vision — DAMAC AI Governance Platform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6236208"/>
            <a:ext cx="502920" cy="384048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" y="6281928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88720" y="629107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C8"/>
                </a:solidFill>
                <a:latin typeface="Calibri"/>
              </a:defRPr>
            </a:pPr>
            <a:r>
              <a:t>Final Recommendation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0" y="914400"/>
            <a:ext cx="4572000" cy="502920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31837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Current challenges, opportunity, and transformation narrative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Transforming PMWeb with governed enterprise AI — not uncontrolled connectivity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C8C8C8"/>
                </a:solidFill>
                <a:latin typeface="Calibri"/>
              </a:defRPr>
            </a:pPr>
            <a:r>
              <a:t>DAMAC's procurement and commercial workflows on PMWeb generate high-value data trapped in documents, tenders, and contracts.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C8C8C8"/>
                </a:solidFill>
                <a:latin typeface="Calibri"/>
              </a:defRPr>
            </a:pPr>
            <a:r>
              <a:t>Manual summarization, tender analysis, and executive reporting create bottlenecks and visibility gaps.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C8C8C8"/>
                </a:solidFill>
                <a:latin typeface="Calibri"/>
              </a:defRPr>
            </a:pPr>
            <a:r>
              <a:t>AI can accelerate decisions — but only when deployed as a governed intelligence layer over enterprise truth.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C8C8C8"/>
                </a:solidFill>
                <a:latin typeface="Calibri"/>
              </a:defRPr>
            </a:pPr>
            <a:r>
              <a:t>Recommended path: Enterprise AI Orchestration Layer between PMWeb APIs and Claude/OpenAI models.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C8C8C8"/>
                </a:solidFill>
                <a:latin typeface="Calibri"/>
              </a:defRPr>
            </a:pPr>
            <a:r>
              <a:t>Start with contract intelligence POC; scale to DAMAC AI Governance Platform.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2560320"/>
            <a:ext cx="2926080" cy="320040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0" y="27432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31837"/>
                </a:solidFill>
                <a:latin typeface="Calibri"/>
              </a:defRPr>
            </a:pPr>
            <a:r>
              <a:t>Strategic Thesis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3291840"/>
            <a:ext cx="2560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"AI should explain enterprise truth,</a:t>
            </a:r>
            <a:br/>
            <a:r>
              <a:t>not derive uncontrolled truth."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Current Challenges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Operational friction across procurement &amp; commercial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338328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286000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Manual Effort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3017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Heavy manual work in procurement/commercial workflows — bid packs, BAFO comparisons, CO approvals.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2286000"/>
            <a:ext cx="338328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2286000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788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 Executive Summaries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246120"/>
            <a:ext cx="3017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Leadership lacks concise, trusted summaries of tenders, contracts, and commitments.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2286000"/>
            <a:ext cx="338328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55279" y="2286000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3879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788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Slow Tender Cycles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3246120"/>
            <a:ext cx="3017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Tender decision cycles delayed by document review, vendor comparison, and deviation analysis.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206240"/>
            <a:ext cx="338328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206240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389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709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Limited Visibility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66360"/>
            <a:ext cx="3017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Management cannot query project/package status, unit mix, or vendor insights on demand.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0" y="4206240"/>
            <a:ext cx="338328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40" y="4206240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43891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7091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Governance Gap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166360"/>
            <a:ext cx="3017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No enterprise AI layer — risk of shadow AI tools and ungoverned database access.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Current State vs Future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Visual transformation narrative for boardroom stakeholders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94560"/>
            <a:ext cx="5303520" cy="38404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9A9A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A9A9A"/>
                </a:solidFill>
                <a:latin typeface="Calibri"/>
              </a:defRPr>
            </a:pPr>
            <a:r>
              <a:t>CURRENT 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34640"/>
            <a:ext cx="4754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C8C8C8"/>
                </a:solidFill>
                <a:latin typeface="Calibri"/>
              </a:defRPr>
            </a:pPr>
            <a:r>
              <a:t>Manual contract &amp; tender summarization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C8C8C8"/>
                </a:solidFill>
                <a:latin typeface="Calibri"/>
              </a:defRPr>
            </a:pPr>
            <a:r>
              <a:t>Fragmented document repositories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C8C8C8"/>
                </a:solidFill>
                <a:latin typeface="Calibri"/>
              </a:defRPr>
            </a:pPr>
            <a:r>
              <a:t>Reactive management reporting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C8C8C8"/>
                </a:solidFill>
                <a:latin typeface="Calibri"/>
              </a:defRPr>
            </a:pPr>
            <a:r>
              <a:t>Siloed PMWeb data access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C8C8C8"/>
                </a:solidFill>
                <a:latin typeface="Calibri"/>
              </a:defRPr>
            </a:pPr>
            <a:r>
              <a:t>No AI audit trail or governance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C8C8C8"/>
                </a:solidFill>
                <a:latin typeface="Calibri"/>
              </a:defRPr>
            </a:pPr>
            <a:r>
              <a:t>Shadow AI experimentation risk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84048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94560"/>
            <a:ext cx="5303520" cy="38404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31837"/>
                </a:solidFill>
                <a:latin typeface="Calibri"/>
              </a:defRPr>
            </a:pPr>
            <a:r>
              <a:t>FUTURE 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834640"/>
            <a:ext cx="4754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AI-assisted governance &amp; summarization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Enterprise Knowledge Layer + RAG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Executive AI chatbot with citations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Governed API orchestration to PMWeb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Full audit, RBAC &amp; prompt logging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FFFFFF"/>
                </a:solidFill>
                <a:latin typeface="Calibri"/>
              </a:defRPr>
            </a:pPr>
            <a:r>
              <a:t>DAMAC AI Governance 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5989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4D6A"/>
                </a:solidFill>
                <a:latin typeface="Calibri"/>
              </a:defRPr>
            </a:pPr>
            <a:r>
              <a:t>Opportunity: AI-assisted governance — not ungoverned AI connectivity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0" y="914400"/>
            <a:ext cx="4572000" cy="502920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31837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DAMAC PMWeb Use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Commitment approval, contract intelligence, management chatbot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DAMAC PMWeb Use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High-value AI scenarios aligned to procurement, commercial &amp; management needs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3383280" cy="34747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286000"/>
            <a:ext cx="73152" cy="3474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Commitment / CO Approval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Bid summarization &amp; BAFO comparison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Technical recommendations &amp; benchmarking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Deviations, exclusions &amp; T&amp;C summaries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286000"/>
            <a:ext cx="3383280" cy="34747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2286000"/>
            <a:ext cx="73152" cy="3474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788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Contract Intelligence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4612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AI clause extraction &amp; summarization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Auto-population of PMWeb fields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Contract intelligence repository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2286000"/>
            <a:ext cx="3383280" cy="34747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18120" y="2286000"/>
            <a:ext cx="73152" cy="347472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78892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Management AI Chatbot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246120"/>
            <a:ext cx="30175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Project &amp; package status queries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Building config, unit mix, awards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Vendor &amp; subcontractor insights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Use Case 1 — Commitment / CO Approval Summarization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Accelerate procurement decisions with governed AI intelligence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286000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Bid Summarization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Structured executive summaries from tender submissions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2286000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2286000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78892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BAFO Vendor Comparison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246120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Side-by-side commercial &amp; technical comparison matrices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286000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09560" y="2286000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78892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Technical Recommendations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3246120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AI-assisted evaluation summaries with citations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60519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160519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34339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663439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Historical Benchmarking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20639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Compare against prior awards and market benchmarks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0" y="4160519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40" y="4160519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434339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63439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Deviations / Exclusions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120639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Highlight material deviations from standard terms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9560" y="4160519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4160519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8160" y="434339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663439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Contract T&amp;Cs Summary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5120639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Condensed terms for approval committees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806440"/>
            <a:ext cx="11155680" cy="502920"/>
          </a:xfrm>
          <a:prstGeom prst="roundRect">
            <a:avLst/>
          </a:prstGeom>
          <a:solidFill>
            <a:srgbClr val="1A1A1A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87044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C8"/>
                </a:solidFill>
                <a:latin typeface="Calibri"/>
              </a:defRPr>
            </a:pPr>
            <a:r>
              <a:t>PMWeb Tender → Document Ingestion → RAG → AI Summarization → Human Approval → PMWeb Update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Use Case 2 — AI-Assisted Contract Summarization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Reduce manual effort while preserving enterprise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5029200" cy="20116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286000"/>
            <a:ext cx="73152" cy="201168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AI Clause Extraction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Identify key clauses: payment, LDs, warranties, termination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Map extracted data to PMWeb contract schema fields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480560"/>
            <a:ext cx="5029200" cy="182880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480560"/>
            <a:ext cx="73152" cy="18288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663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8348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Auto-Population of PMWeb Fields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4068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Structured outputs feed governed API writes — never raw AI-to-DB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Human-in-the-loop validation before PMWeb record updates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720" y="2286000"/>
            <a:ext cx="5852160" cy="402336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0" y="2286000"/>
            <a:ext cx="73152" cy="40233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27889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Contract Intelligence Workflow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3246120"/>
            <a:ext cx="5486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1. Upload contract PDF to secure ingestion pipeline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2. OCR + chunking + vector indexing (Enterprise Knowledge Layer)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3. Claude document intelligence extracts clauses &amp; summaries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4. Orchestration validates schema, applies RBAC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5. Analyst reviews with citation-linked UI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6. Approved data synced to PMWeb via API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Outcome: 60–80% reduction in manual summarization effort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Use Case 3 — AI Chatbot for Management Queries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Executive-grade conversational access to governed PMWeb intelligence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286000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Project / Package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Real-time pipeline view across developments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2286000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2286000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78892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Building Configuration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246120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Typology, floors, areas, specifications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286000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09560" y="2286000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78892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Unit Mix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3246120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Inventory breakdown by type, size, price band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60519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160519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34339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663439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Design Parameters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120639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Key design criteria and approval status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0" y="4160519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40" y="4160519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434339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63439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Awarded Values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120639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Contract values, variations, commitment status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9560" y="4160519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4160519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8160" y="434339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663439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Vendor / Subcontractor Insights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5120639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Performance, awards, risk flags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806440"/>
            <a:ext cx="11155680" cy="5029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870448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4D6A"/>
                </a:solidFill>
                <a:latin typeface="Calibri"/>
              </a:defRPr>
            </a:pPr>
            <a:r>
              <a:t>Every response: RBAC-filtered • Citation-linked • Audit-logged • No direct database inference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0" y="914400"/>
            <a:ext cx="4572000" cy="502920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31837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Direct AI-to-PMWeb Is Risky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Enterprise truth must be governed — not inferred from raw databases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Direct AI-to-PMWeb Is Risky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Ungoverned connectivity exposes enterprise data and decision integrity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40280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Direct DB Access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AI agents with SQL/DB credentials create irreversible data exposure and injection risk.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2240280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2240280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423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74320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Hallucinations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200400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LLMs can fabricate figures, vendors, or clauses — catastrophic in procurement decisions.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240280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09560" y="2240280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2423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74320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Security Breach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3200400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Uncontrolled prompts may leak PII, commercial terms, and vendor pricing across tenants.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14799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114799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29767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617719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074919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Shadow AI bypasses DAMAC policies, retention rules, and regional data residency.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0" y="4114799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40" y="4114799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429767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17719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No Traceability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074919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Without audit logs, leadership cannot explain how an AI-derived answer was produced.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9560" y="4114799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4114799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8160" y="429767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617719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Inaccurate Answers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5074919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Stale embeddings, wrong document versions, and missing context produce silent errors.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94360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E31837"/>
                </a:solidFill>
                <a:latin typeface="Calibri"/>
              </a:defRPr>
            </a:pPr>
            <a:r>
              <a:t>"AI should explain enterprise truth, not derive uncontrolled truth."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Anti-Pattern vs Recommended Pattern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Architecture decision with enterprise consequences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5029200" cy="3474720"/>
          </a:xfrm>
          <a:prstGeom prst="roundRect">
            <a:avLst/>
          </a:prstGeom>
          <a:solidFill>
            <a:srgbClr val="2A1010"/>
          </a:solidFill>
          <a:ln w="12700">
            <a:solidFill>
              <a:srgbClr val="B012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D6A"/>
                </a:solidFill>
                <a:latin typeface="Calibri"/>
              </a:defRPr>
            </a:pPr>
            <a:r>
              <a:t>✕ ANTI-PATTERN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2926080"/>
            <a:ext cx="3200400" cy="6400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3063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Claude / 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6118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31837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840480"/>
            <a:ext cx="3200400" cy="6400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39776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Direct DB / SQL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297680"/>
            <a:ext cx="31089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A9A9A"/>
                </a:solidFill>
                <a:latin typeface="Calibri"/>
              </a:defRPr>
            </a:pPr>
            <a:r>
              <a:t>UNGOVERNED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45262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31837"/>
                </a:solidFill>
                <a:latin typeface="Calibri"/>
              </a:defRPr>
            </a:pPr>
            <a:r>
              <a:t>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4754880"/>
            <a:ext cx="3200400" cy="6400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63040" y="48920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PMWeb 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212080"/>
            <a:ext cx="310896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A9A9A"/>
                </a:solidFill>
                <a:latin typeface="Calibri"/>
              </a:defRPr>
            </a:pPr>
            <a:r>
              <a:t>HIGH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44068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000">
                <a:solidFill>
                  <a:srgbClr val="9A9A9A"/>
                </a:solidFill>
                <a:latin typeface="Calibri"/>
              </a:defRPr>
            </a:pPr>
            <a:r>
              <a:t>No RBAC • No citations • No audit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2286000"/>
            <a:ext cx="5303520" cy="3474720"/>
          </a:xfrm>
          <a:prstGeom prst="roundRect">
            <a:avLst/>
          </a:prstGeom>
          <a:solidFill>
            <a:srgbClr val="101A10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23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✓ RECOMMENDED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2880360"/>
            <a:ext cx="3840480" cy="475488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3017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Management Experience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0" y="3447288"/>
            <a:ext cx="3840480" cy="475488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358444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Orchestration + Governance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4014216"/>
            <a:ext cx="3840480" cy="475488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0" y="415137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Enterprise Knowledge Layer (RAG)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0" y="4581144"/>
            <a:ext cx="3840480" cy="475488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0" y="471830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API / Integration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5148072"/>
            <a:ext cx="3840480" cy="475488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528523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PMWeb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0" y="914400"/>
            <a:ext cx="4572000" cy="502920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31837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Recommended Enterprise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API-first orchestration with knowledge layer and AI governance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Recommended Enterprise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Governed intelligence layer — cloud-native, auditable, API-first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148840"/>
            <a:ext cx="9601200" cy="658368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28600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Management Experience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606040"/>
            <a:ext cx="95097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A9A9A"/>
                </a:solidFill>
                <a:latin typeface="Calibri"/>
              </a:defRPr>
            </a:pPr>
            <a:r>
              <a:t>Executive dashboards • AI chatbot • Approval workflows • Citations UI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8072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953512"/>
            <a:ext cx="9601200" cy="658368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090672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Claude / OpenAI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410712"/>
            <a:ext cx="95097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A9A9A"/>
                </a:solidFill>
                <a:latin typeface="Calibri"/>
              </a:defRPr>
            </a:pPr>
            <a:r>
              <a:t>Document intelligence • Reasoning • Orchestration assist • Model 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6118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758184"/>
            <a:ext cx="9601200" cy="658368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3895344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Orchestration Layer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215384"/>
            <a:ext cx="95097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A9A9A"/>
                </a:solidFill>
                <a:latin typeface="Calibri"/>
              </a:defRPr>
            </a:pPr>
            <a:r>
              <a:t>Prompt mgmt • Model routing • Guardrails • Human-in-loop • Cost controls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4165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62856"/>
            <a:ext cx="9601200" cy="658368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4700016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Enterprise Knowledge Layer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020056"/>
            <a:ext cx="95097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A9A9A"/>
                </a:solidFill>
                <a:latin typeface="Calibri"/>
              </a:defRPr>
            </a:pPr>
            <a:r>
              <a:t>Vector DB • RAG • Document ingestion • Embeddings • Version 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52212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71600" y="5367528"/>
            <a:ext cx="9601200" cy="658368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5504688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API / Integration Layer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824728"/>
            <a:ext cx="95097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A9A9A"/>
                </a:solidFill>
                <a:latin typeface="Calibri"/>
              </a:defRPr>
            </a:pPr>
            <a:r>
              <a:t>PMWeb APIs • Event bus • ETL • Schema validation • Rate limiting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60258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31837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371600" y="6172200"/>
            <a:ext cx="9601200" cy="658368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63040" y="6309360"/>
            <a:ext cx="9418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PMWeb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6629400"/>
            <a:ext cx="9509760" cy="155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A9A9A"/>
                </a:solidFill>
                <a:latin typeface="Calibri"/>
              </a:defRPr>
            </a:pPr>
            <a:r>
              <a:t>System of record • Contracts • Tenders • Projects • Commercial data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2286000"/>
            <a:ext cx="777240" cy="594360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359152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RBAC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063240"/>
            <a:ext cx="777240" cy="594360"/>
          </a:xfrm>
          <a:prstGeom prst="roundRect">
            <a:avLst/>
          </a:prstGeom>
          <a:solidFill>
            <a:srgbClr val="2E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3136392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Audit Logs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3840480"/>
            <a:ext cx="777240" cy="594360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3913632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Prompt Logging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617720"/>
            <a:ext cx="777240" cy="594360"/>
          </a:xfrm>
          <a:prstGeom prst="roundRect">
            <a:avLst/>
          </a:prstGeom>
          <a:solidFill>
            <a:srgbClr val="2E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690872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Citation Tracking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394960"/>
            <a:ext cx="777240" cy="594360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468112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Vector DB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172200"/>
            <a:ext cx="777240" cy="594360"/>
          </a:xfrm>
          <a:prstGeom prst="roundRect">
            <a:avLst/>
          </a:prstGeom>
          <a:solidFill>
            <a:srgbClr val="2E2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245352"/>
            <a:ext cx="868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FFFFFF"/>
                </a:solidFill>
                <a:latin typeface="Calibri"/>
              </a:defRPr>
            </a:pPr>
            <a:r>
              <a:t>RAG Pipeline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RAG &amp; Knowledge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Retrieval-augmented generation with enterprise controls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926080"/>
            <a:ext cx="1508760" cy="10058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PMWeb Documents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00" y="32461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2926080"/>
            <a:ext cx="1508760" cy="10058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306324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Ingestion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2461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2926080"/>
            <a:ext cx="1508760" cy="10058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06324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Chunking &amp; Embedding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32461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60720" y="2926080"/>
            <a:ext cx="1508760" cy="10058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306324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Vector 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2461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2926080"/>
            <a:ext cx="1508760" cy="10058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89519" y="306324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RAG Retrieval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39" y="32461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2926080"/>
            <a:ext cx="1508760" cy="10058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306324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AI Orchestration +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44200" y="32461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31837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0" y="2926080"/>
            <a:ext cx="1508760" cy="10058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64240" y="306324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Cited Response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389120"/>
            <a:ext cx="5394960" cy="105156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389120"/>
            <a:ext cx="73152" cy="10515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572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Document Ingestion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0292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PDF, Word, PMWeb exports — OCR, dedup, classification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4389120"/>
            <a:ext cx="5394960" cy="105156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4389120"/>
            <a:ext cx="73152" cy="10515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4572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Orchestration Engine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0292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LangChain / custom — routing, fallbacks, eval hooks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623560"/>
            <a:ext cx="5394960" cy="105156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623560"/>
            <a:ext cx="73152" cy="10515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806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AI Governance Layer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62636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Policy engine, PII redaction, output validation, kill switch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5623560"/>
            <a:ext cx="5394960" cy="105156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72200" y="5623560"/>
            <a:ext cx="73152" cy="105156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58064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PMWeb APIs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62636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Read via governed APIs; write only post human 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0" y="914400"/>
            <a:ext cx="4572000" cy="502920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31837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AI Model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Claude, OpenAI, Azure OpenAI, Gemini — hybrid recommendation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AI Model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Enterprise evaluation across four leading platforms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148840"/>
          <a:ext cx="11155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3429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E318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Enterprise</a:t>
                      </a:r>
                    </a:p>
                  </a:txBody>
                  <a:tcPr>
                    <a:solidFill>
                      <a:srgbClr val="E318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OpenAI GPT-5/4.1</a:t>
                      </a:r>
                    </a:p>
                  </a:txBody>
                  <a:tcPr>
                    <a:solidFill>
                      <a:srgbClr val="E318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Azure OpenAI</a:t>
                      </a:r>
                    </a:p>
                  </a:txBody>
                  <a:tcPr>
                    <a:solidFill>
                      <a:srgbClr val="E318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Gemini Enterprise</a:t>
                      </a:r>
                    </a:p>
                  </a:txBody>
                  <a:tcPr>
                    <a:solidFill>
                      <a:srgbClr val="E3183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Document Summarization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Contract Analysis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Coding / Orchestration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Ecosystem Maturity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API Flexibility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Enterprise Readiness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Context Window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200K–1M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128K–1M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128K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1M–2M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Hallucination Control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Governance Capability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Integration Ease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Cost Optimization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★★★☆☆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★★★★☆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Recommended Option — Hybrid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Best-of-breed model routing for DAMAC enterprise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86000"/>
            <a:ext cx="3474720" cy="320040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286000"/>
            <a:ext cx="73152" cy="32004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Claude Enterprise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Primary: document intelligence &amp; summarization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Contract clause extraction &amp; long-context analysis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Lowest hallucination risk for legal/commercial 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286000"/>
            <a:ext cx="3474720" cy="320040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286000"/>
            <a:ext cx="73152" cy="32004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78892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OpenAI GPT-5 / 4.1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246120"/>
            <a:ext cx="31089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Primary: orchestration &amp; coding ecosystem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Agent frameworks, function calling, evals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Broad developer tooling &amp; integrations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286000"/>
            <a:ext cx="3886200" cy="320040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0" y="2286000"/>
            <a:ext cx="73152" cy="32004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1000" y="2468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278892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Hybrid — Recommended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3246120"/>
            <a:ext cx="3520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Claude for document &amp; contract intelligence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OpenAI for orchestration layer &amp; code-gen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Azure OpenAI optional for ME data residency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Intelligent router optimizes cost &amp; quality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669280"/>
            <a:ext cx="11155680" cy="59436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779008"/>
            <a:ext cx="10789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Long-term: Multi-model orchestration with unified governance — single DAMAC AI platform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0" y="914400"/>
            <a:ext cx="4572000" cy="502920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31837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Enterprise Pricing &amp; Cost Optimization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Token economics, scenarios, and hybrid routing savings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Enterprise API Pricing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Per-million-token pricing — indicative May 2026 enterprise rates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148840"/>
          <a:ext cx="1115568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38608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Provider / Model</a:t>
                      </a:r>
                    </a:p>
                  </a:txBody>
                  <a:tcPr>
                    <a:solidFill>
                      <a:srgbClr val="E318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Input ($/1M tokens)</a:t>
                      </a:r>
                    </a:p>
                  </a:txBody>
                  <a:tcPr>
                    <a:solidFill>
                      <a:srgbClr val="E318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 ($/1M tokens)</a:t>
                      </a:r>
                    </a:p>
                  </a:txBody>
                  <a:tcPr>
                    <a:solidFill>
                      <a:srgbClr val="E318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E31837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Claude Haiku 4.5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$0.80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$4.00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High-volume retrieval, classification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Claude Sonnet 4.5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$3.00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$15.00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Balanced summarization &amp; analysis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Claude Opus 4.5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$15.00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$75.00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Complex contracts, executive summaries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OpenAI GPT-4.1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$2.00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$8.00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General enterprise workloads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OpenAI GPT-4.1 Mini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$0.40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$1.60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Chatbot, lightweight queries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OpenAI GPT-5 class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$12.00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$48.00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Advanced reasoning, agents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Azure OpenAI (GPT-4.1)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$2.20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$8.80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ME residency, Microsoft ecosystem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Azure OpenAI (GPT-4.1 mini)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$0.44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$1.76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Cost-optimized Azure deployment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5806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* Indicative enterprise list pricing. Actual DAMAC rates subject to volume commits &amp; Azure EA.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Monthly Enterprise Cost Scenarios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Realistic DAMAC workload estimates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148840"/>
          <a:ext cx="111556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Use Case Scenario</a:t>
                      </a:r>
                    </a:p>
                  </a:txBody>
                  <a:tcPr>
                    <a:solidFill>
                      <a:srgbClr val="E318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Volume</a:t>
                      </a:r>
                    </a:p>
                  </a:txBody>
                  <a:tcPr>
                    <a:solidFill>
                      <a:srgbClr val="E318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 Strategy</a:t>
                      </a:r>
                    </a:p>
                  </a:txBody>
                  <a:tcPr>
                    <a:solidFill>
                      <a:srgbClr val="E318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Est. Monthly Cost (USD)</a:t>
                      </a:r>
                    </a:p>
                  </a:txBody>
                  <a:tcPr>
                    <a:solidFill>
                      <a:srgbClr val="E31837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Contract Summaries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1,000 / month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Claude Sonnet + Haiku routing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$8,500 – $14,000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Tender Summarizations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200 / month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Claude Sonnet (long docs)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$4,200 – $7,500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Management Chatbot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500 users, ~20 queries/day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GPT-4.1 Mini + RAG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$6,000 – $12,000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Combined Enterprise (Phase 3)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All workloads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Hybrid routing + caching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$18,000 – $32,000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Full Platform (Phase 4)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All + governance infra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Hybrid + Azure option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$35,000 – $55,000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846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31837"/>
                </a:solidFill>
                <a:latin typeface="Calibri"/>
              </a:defRPr>
            </a:pPr>
            <a:r>
              <a:t>Cost Optimization Strategies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2578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Prompt caching — up to 90% savings on repeated contract templates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RAG architecture — smaller models for retrieval, premium models for synthesis only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Hybrid AI routing — Haiku/Mini for triage, Sonnet/GPT-4.1 for generation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Batch processing — off-peak tender summarization at 50% discount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Procurement &amp; Chatbot Cost Breakdown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Per-use-case economics for business case validation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148840"/>
          <a:ext cx="11155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1136"/>
                <a:gridCol w="2231136"/>
                <a:gridCol w="2231136"/>
                <a:gridCol w="2231136"/>
                <a:gridCol w="2231136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 Component</a:t>
                      </a:r>
                    </a:p>
                  </a:txBody>
                  <a:tcPr>
                    <a:solidFill>
                      <a:srgbClr val="E318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Assumptions</a:t>
                      </a:r>
                    </a:p>
                  </a:txBody>
                  <a:tcPr>
                    <a:solidFill>
                      <a:srgbClr val="E318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Claude Path</a:t>
                      </a:r>
                    </a:p>
                  </a:txBody>
                  <a:tcPr>
                    <a:solidFill>
                      <a:srgbClr val="E318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OpenAI Path</a:t>
                      </a:r>
                    </a:p>
                  </a:txBody>
                  <a:tcPr>
                    <a:solidFill>
                      <a:srgbClr val="E3183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Hybrid (Rec.)</a:t>
                      </a:r>
                    </a:p>
                  </a:txBody>
                  <a:tcPr>
                    <a:solidFill>
                      <a:srgbClr val="E3183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Contract summary (avg)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~80K in / 4K out tokens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$0.30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$0.22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$0.25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Tender BAFO pack (avg)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~200K in / 8K out tokens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$0.85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$0.65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$0.72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Chatbot query (avg)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~2K in / 500 out tokens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$0.004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$0.003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Monthly — 1000 contracts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Sonnet-class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$12,000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$9,500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$10,200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Monthly — 200 tenders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Sonnet + long ctx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$6,800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$5,400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$5,900</a:t>
                      </a:r>
                    </a:p>
                  </a:txBody>
                  <a:tcPr>
                    <a:solidFill>
                      <a:srgbClr val="22222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Monthly — 500 chatbot users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Mini + RAG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$9,200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C8C8C8"/>
                          </a:solidFill>
                          <a:latin typeface="Calibri"/>
                        </a:defRPr>
                      </a:pPr>
                      <a:r>
                        <a:t>$7,800</a:t>
                      </a:r>
                    </a:p>
                  </a:txBody>
                  <a:tcPr>
                    <a:solidFill>
                      <a:srgbClr val="2E2E2E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486400"/>
            <a:ext cx="11155680" cy="7772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557784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Hybrid routing typically delivers 15–25% cost reduction vs single-vendor — with higher quality on documents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0" y="914400"/>
            <a:ext cx="4572000" cy="502920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31837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Implementation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Phased roadmap from POC to DAMAC AI Governance Platform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Phased Implementation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Disciplined delivery with measurable value at each gate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94560"/>
            <a:ext cx="2697480" cy="39319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0604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Contract Summarization POC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54680"/>
            <a:ext cx="2423160" cy="320040"/>
          </a:xfrm>
          <a:prstGeom prst="roundRect">
            <a:avLst/>
          </a:prstGeom>
          <a:solidFill>
            <a:srgbClr val="B0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182112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2–3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6616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900">
                <a:solidFill>
                  <a:srgbClr val="C8C8C8"/>
                </a:solidFill>
                <a:latin typeface="Calibri"/>
              </a:defRPr>
            </a:pPr>
            <a:r>
              <a:t>PMWeb API integration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00">
                <a:solidFill>
                  <a:srgbClr val="C8C8C8"/>
                </a:solidFill>
                <a:latin typeface="Calibri"/>
              </a:defRPr>
            </a:pPr>
            <a:r>
              <a:t>Document ingestion + RAG MVP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00">
                <a:solidFill>
                  <a:srgbClr val="C8C8C8"/>
                </a:solidFill>
                <a:latin typeface="Calibri"/>
              </a:defRPr>
            </a:pPr>
            <a:r>
              <a:t>Claude contract extraction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00">
                <a:solidFill>
                  <a:srgbClr val="C8C8C8"/>
                </a:solidFill>
                <a:latin typeface="Calibri"/>
              </a:defRPr>
            </a:pPr>
            <a:r>
              <a:t>Human-in-loop approval UI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2194560"/>
            <a:ext cx="2697480" cy="39319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2E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33172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260604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Tender Recommendation Engine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154680"/>
            <a:ext cx="2423160" cy="320040"/>
          </a:xfrm>
          <a:prstGeom prst="roundRect">
            <a:avLst/>
          </a:prstGeom>
          <a:solidFill>
            <a:srgbClr val="B0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9000" y="3182112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4–6 weeks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56616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900">
                <a:solidFill>
                  <a:srgbClr val="C8C8C8"/>
                </a:solidFill>
                <a:latin typeface="Calibri"/>
              </a:defRPr>
            </a:pPr>
            <a:r>
              <a:t>BAFO comparison automation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00">
                <a:solidFill>
                  <a:srgbClr val="C8C8C8"/>
                </a:solidFill>
                <a:latin typeface="Calibri"/>
              </a:defRPr>
            </a:pPr>
            <a:r>
              <a:t>Deviation &amp; exclusion detection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00">
                <a:solidFill>
                  <a:srgbClr val="C8C8C8"/>
                </a:solidFill>
                <a:latin typeface="Calibri"/>
              </a:defRPr>
            </a:pPr>
            <a:r>
              <a:t>Historical benchmarking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00">
                <a:solidFill>
                  <a:srgbClr val="C8C8C8"/>
                </a:solidFill>
                <a:latin typeface="Calibri"/>
              </a:defRPr>
            </a:pPr>
            <a:r>
              <a:t>PMWeb workflow integration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2194560"/>
            <a:ext cx="2697480" cy="39319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2E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233172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60604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Executive AI Chatbot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154680"/>
            <a:ext cx="2423160" cy="320040"/>
          </a:xfrm>
          <a:prstGeom prst="roundRect">
            <a:avLst/>
          </a:prstGeom>
          <a:solidFill>
            <a:srgbClr val="B0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3182112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2–3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356616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900">
                <a:solidFill>
                  <a:srgbClr val="C8C8C8"/>
                </a:solidFill>
                <a:latin typeface="Calibri"/>
              </a:defRPr>
            </a:pPr>
            <a:r>
              <a:t>Management query interface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00">
                <a:solidFill>
                  <a:srgbClr val="C8C8C8"/>
                </a:solidFill>
                <a:latin typeface="Calibri"/>
              </a:defRPr>
            </a:pPr>
            <a:r>
              <a:t>RBAC + citation layer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00">
                <a:solidFill>
                  <a:srgbClr val="C8C8C8"/>
                </a:solidFill>
                <a:latin typeface="Calibri"/>
              </a:defRPr>
            </a:pPr>
            <a:r>
              <a:t>500-user pilot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00">
                <a:solidFill>
                  <a:srgbClr val="C8C8C8"/>
                </a:solidFill>
                <a:latin typeface="Calibri"/>
              </a:defRPr>
            </a:pPr>
            <a:r>
              <a:t>PMWeb real-time data sync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69680" y="2194560"/>
            <a:ext cx="2697480" cy="39319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2E2E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233172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2606040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Enterprise AI Governance Platform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3154680"/>
            <a:ext cx="2423160" cy="320040"/>
          </a:xfrm>
          <a:prstGeom prst="roundRect">
            <a:avLst/>
          </a:prstGeom>
          <a:solidFill>
            <a:srgbClr val="B012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6840" y="3182112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4–6 months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566160"/>
            <a:ext cx="2423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900">
                <a:solidFill>
                  <a:srgbClr val="C8C8C8"/>
                </a:solidFill>
                <a:latin typeface="Calibri"/>
              </a:defRPr>
            </a:pPr>
            <a:r>
              <a:t>Multi-model orchestration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00">
                <a:solidFill>
                  <a:srgbClr val="C8C8C8"/>
                </a:solidFill>
                <a:latin typeface="Calibri"/>
              </a:defRPr>
            </a:pPr>
            <a:r>
              <a:t>Full audit &amp; compliance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00">
                <a:solidFill>
                  <a:srgbClr val="C8C8C8"/>
                </a:solidFill>
                <a:latin typeface="Calibri"/>
              </a:defRPr>
            </a:pPr>
            <a:r>
              <a:t>Predictive procurement analytics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900">
                <a:solidFill>
                  <a:srgbClr val="C8C8C8"/>
                </a:solidFill>
                <a:latin typeface="Calibri"/>
              </a:defRPr>
            </a:pPr>
            <a:r>
              <a:t>DAMAC-wide AI standards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Implementation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Quarter-by-quarter delivery view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200400"/>
            <a:ext cx="11155680" cy="73152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880360"/>
            <a:ext cx="137160" cy="457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3383280"/>
            <a:ext cx="2560320" cy="16459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9300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 1–3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7947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605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C8"/>
                </a:solidFill>
                <a:latin typeface="Calibri"/>
              </a:defRPr>
            </a:pPr>
            <a:r>
              <a:t>Contract POC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880360"/>
            <a:ext cx="137160" cy="457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08960" y="3383280"/>
            <a:ext cx="2560320" cy="16459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54680" y="349300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Week 4–9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7947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54680" y="41605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C8"/>
                </a:solidFill>
                <a:latin typeface="Calibri"/>
              </a:defRPr>
            </a:pPr>
            <a:r>
              <a:t>Tender Engine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0" y="2880360"/>
            <a:ext cx="137160" cy="457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77840" y="3383280"/>
            <a:ext cx="2560320" cy="16459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23560" y="349300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Month 3–5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23560" y="37947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23560" y="41605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C8"/>
                </a:solidFill>
                <a:latin typeface="Calibri"/>
              </a:defRPr>
            </a:pPr>
            <a:r>
              <a:t>Executive Chatbot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60" y="2880360"/>
            <a:ext cx="137160" cy="4572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46720" y="3383280"/>
            <a:ext cx="2560320" cy="16459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92440" y="349300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31837"/>
                </a:solidFill>
                <a:latin typeface="Calibri"/>
              </a:defRPr>
            </a:pPr>
            <a:r>
              <a:t>Month 6–11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37947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Phase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41605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C8C8"/>
                </a:solidFill>
                <a:latin typeface="Calibri"/>
              </a:defRPr>
            </a:pPr>
            <a:r>
              <a:t>AI Governance Platform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4AF37"/>
                </a:solidFill>
                <a:latin typeface="Calibri"/>
              </a:defRPr>
            </a:pPr>
            <a:r>
              <a:t>Total program: ~9–11 months to full DAMAC AI Governance Platform | Quick win in 2–3 weeks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0" y="914400"/>
            <a:ext cx="4572000" cy="502920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31837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Security &amp;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RBAC, audit, human-in-the-loop, and DAMAC enterprise controls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Security &amp; Governance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Enterprise controls aligned to DAMAC policies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94560"/>
            <a:ext cx="2606040" cy="17830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194560"/>
            <a:ext cx="73152" cy="178308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RBAC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54680"/>
            <a:ext cx="2240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Role-based access aligned to PMWeb permissions — procurement, commercial, executive tiers.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2194560"/>
            <a:ext cx="2606040" cy="17830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2194560"/>
            <a:ext cx="73152" cy="178308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2377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69748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Audit Logging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154680"/>
            <a:ext cx="2240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Immutable logs: who asked what, which documents retrieved, which model, which output.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2194560"/>
            <a:ext cx="2606040" cy="17830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80760" y="2194560"/>
            <a:ext cx="73152" cy="178308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2377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69748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Prompt Logging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154680"/>
            <a:ext cx="2240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Full prompt/response capture for compliance review and incident investigation.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69680" y="2194560"/>
            <a:ext cx="2606040" cy="17830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869680" y="2194560"/>
            <a:ext cx="73152" cy="178308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280" y="2377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269748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AI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3154680"/>
            <a:ext cx="2240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Policy engine: approved models, data classification rules, output validation gates.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160520"/>
            <a:ext cx="2606040" cy="17830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4160520"/>
            <a:ext cx="73152" cy="178308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66344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Human-in-the-Loop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120640"/>
            <a:ext cx="2240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Mandatory analyst approval before any PMWeb write or commitment action.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91840" y="4160520"/>
            <a:ext cx="2606040" cy="17830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91840" y="4160520"/>
            <a:ext cx="73152" cy="178308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2044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0440" y="466344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Data Privacy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0440" y="5120640"/>
            <a:ext cx="2240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PII redaction, encryption at rest/transit, UAE data residency via Azure option.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080760" y="4160520"/>
            <a:ext cx="2606040" cy="17830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080760" y="4160520"/>
            <a:ext cx="73152" cy="178308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466344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DAMAC Enterprise Controls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120640"/>
            <a:ext cx="2240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SSO integration, retention policies, vendor DPAs, SOC2-aligned providers.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69680" y="4160520"/>
            <a:ext cx="2606040" cy="178308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869680" y="4160520"/>
            <a:ext cx="73152" cy="178308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98280" y="4343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🔒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8280" y="4663440"/>
            <a:ext cx="2240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Secure API Architecture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5120640"/>
            <a:ext cx="22402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API gateway, mTLS, secrets vault, zero direct DB credentials to AI.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AI Governance Control Plane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Centralized policy enforcement across all AI workloads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3657600"/>
            <a:ext cx="3017520" cy="1280160"/>
          </a:xfrm>
          <a:prstGeom prst="round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09160" y="39776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AI Governance</a:t>
            </a:r>
            <a:br/>
            <a:r>
              <a:t>Control Plane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560320"/>
            <a:ext cx="2286000" cy="68580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RBAC &amp; SSO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560320"/>
            <a:ext cx="2286000" cy="68580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0" y="269748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Audit &amp; Compliance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754880"/>
            <a:ext cx="2286000" cy="68580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Prompt Management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4754880"/>
            <a:ext cx="2286000" cy="68580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Model Allowlist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0" y="5486400"/>
            <a:ext cx="2286000" cy="68580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56235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Human Approval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5486400"/>
            <a:ext cx="2286000" cy="68580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562356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Data Classification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0" y="914400"/>
            <a:ext cx="4572000" cy="502920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31837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Future 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DAMAC AI Governance Platform — enterprise procurement intelligence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Future Vision — DAMAC AI Governance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From PMWeb intelligence to enterprise-wide procurement AI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40280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Predictive Procurement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00400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Forecast pricing trends, bid competitiveness, and award outcomes.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2240280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2240280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423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74320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AI Risk Scoring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200400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Automated vendor and subcontractor risk assessment across portfolio.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2240280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09560" y="2240280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24231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74320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Vendor Performance Intelligence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3200400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Historical performance, SLA compliance, and anomaly patterns.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14799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114799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29767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617719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Procurement Anomaly Detection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074919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Flag unusual pricing, scope gaps, and compliance deviations.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0" y="4114799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06240" y="4114799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429767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17719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Enterprise Project Intelligence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074919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Cross-project insights: cost, schedule, design, commercial.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9560" y="4114799"/>
            <a:ext cx="3520440" cy="169164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4114799"/>
            <a:ext cx="73152" cy="16916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38160" y="4297679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31837"/>
                </a:solidFill>
                <a:latin typeface="Calibri"/>
              </a:defRPr>
            </a:pPr>
            <a:r>
              <a:t>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617719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Executive Copilots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5074919"/>
            <a:ext cx="31546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100">
                <a:solidFill>
                  <a:srgbClr val="C8C8C8"/>
                </a:solidFill>
                <a:latin typeface="Calibri"/>
              </a:defRPr>
            </a:pPr>
            <a:r>
              <a:t>Personalized AI advisors for CEO, CFO, and procurement leadership.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806440"/>
            <a:ext cx="11155680" cy="5029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87044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Vision: DAMAC AI Governance Platform — the trusted intelligence layer for all enterprise decisions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772400" y="914400"/>
            <a:ext cx="4572000" cy="502920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56032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E31837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00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Final 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Build orchestration first — scale governed intelligence across DAMAC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241280" y="274320"/>
            <a:ext cx="1645920" cy="109728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200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31837"/>
                </a:solidFill>
                <a:latin typeface="Calibri"/>
              </a:defRPr>
            </a:pPr>
            <a:r>
              <a:t>SECTION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Final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288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A9A9A"/>
                </a:solidFill>
                <a:latin typeface="Calibri"/>
              </a:defRPr>
            </a:pPr>
            <a:r>
              <a:t>Consulting conclusion — path to governed enterprise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286000"/>
            <a:ext cx="6858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Build the Enterprise AI Orchestration Layer first — before any production AI workloads.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Avoid direct AI-to-database architecture — enforce API-first, governed connectivity to PMWeb.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Deploy AI as a governed intelligence layer that explains enterprise truth with citations.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Start with Contract Intelligence POC (Phase 1) — 2–3 weeks to demonstrable value.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Adopt hybrid Claude + OpenAI architecture for document quality and orchestration depth.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Scale systematically to DAMAC AI Governance Platform over 9–11 months.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2286000"/>
            <a:ext cx="3886200" cy="3474720"/>
          </a:xfrm>
          <a:prstGeom prst="roundRect">
            <a:avLst/>
          </a:prstGeom>
          <a:solidFill>
            <a:srgbClr val="222222"/>
          </a:solidFill>
          <a:ln w="1270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2468880"/>
            <a:ext cx="3520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31837"/>
                </a:solidFill>
                <a:latin typeface="Calibri"/>
              </a:defRPr>
            </a:pPr>
            <a:r>
              <a:t>Decision 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3017520"/>
            <a:ext cx="3520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C8C8C8"/>
                </a:solidFill>
                <a:latin typeface="Calibri"/>
              </a:defRPr>
            </a:pPr>
            <a:r>
              <a:t>Approve Phase 1 POC budget &amp; team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C8C8C8"/>
                </a:solidFill>
                <a:latin typeface="Calibri"/>
              </a:defRPr>
            </a:pPr>
            <a:r>
              <a:t>Nominate DAMAC executive sponsor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C8C8C8"/>
                </a:solidFill>
                <a:latin typeface="Calibri"/>
              </a:defRPr>
            </a:pPr>
            <a:r>
              <a:t>Confirm PMWeb API access scope</a:t>
            </a:r>
          </a:p>
          <a:p>
            <a:pPr>
              <a:lnSpc>
                <a:spcPct val="115000"/>
              </a:lnSpc>
              <a:spcAft>
                <a:spcPts val="600"/>
              </a:spcAft>
              <a:defRPr sz="1200">
                <a:solidFill>
                  <a:srgbClr val="C8C8C8"/>
                </a:solidFill>
                <a:latin typeface="Calibri"/>
              </a:defRPr>
            </a:pPr>
            <a:r>
              <a:t>Establish AI governance steering committee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943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31837"/>
                </a:solidFill>
                <a:latin typeface="Calibri"/>
              </a:defRPr>
            </a:pPr>
            <a:r>
              <a:t>The opportunity is not connecting AI to PMWeb — it is building the intelligence layer that governs how AI serves DAMAC.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31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657600" y="1828800"/>
            <a:ext cx="5029200" cy="3657600"/>
          </a:xfrm>
          <a:prstGeom prst="ellipse">
            <a:avLst/>
          </a:prstGeom>
          <a:noFill/>
          <a:ln w="31750">
            <a:solidFill>
              <a:srgbClr val="E318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4D6A"/>
                </a:solidFill>
                <a:latin typeface="Calibri"/>
              </a:defRPr>
            </a:pPr>
            <a:r>
              <a:t>Enterprise AI Governance &amp; Intelligence Layer for PMWeb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A9A9A"/>
                </a:solidFill>
                <a:latin typeface="Calibri"/>
              </a:defRPr>
            </a:pPr>
            <a:r>
              <a:t>CMCS | DAMAC AI Transformation |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A9A9A"/>
                </a:solidFill>
                <a:latin typeface="Calibri"/>
              </a:defRPr>
            </a:pPr>
            <a:r>
              <a:t>DAMAC | Enterprise AI Governance &amp; Intelligence Layer for PMWeb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E31837"/>
                </a:solidFill>
                <a:latin typeface="Calibri"/>
              </a:defRPr>
            </a:pPr>
            <a:r>
              <a:t>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