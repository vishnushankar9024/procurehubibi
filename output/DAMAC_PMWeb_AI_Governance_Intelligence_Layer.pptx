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1911096" cy="50292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292608"/>
            <a:ext cx="1856232" cy="53035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691640"/>
            <a:ext cx="91440" cy="21945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Enterprise AI Governance &amp;</a:t>
            </a:r>
            <a:br/>
            <a:r>
              <a:t>Intelligence Layer for PMWeb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31837"/>
                </a:solidFill>
                <a:latin typeface="Calibri"/>
              </a:defRPr>
            </a:pPr>
            <a:r>
              <a:t>Governed AI Orchestration — Not Direct AI-to-Database Connectivity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6B6B"/>
                </a:solidFill>
                <a:latin typeface="Calibri"/>
              </a:defRPr>
            </a:pPr>
            <a:r>
              <a:t>Executive Proposal for DAMAC Leadership &amp; Technology Stakeholders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120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Prepared for DAMAC  |  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2362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6B6B"/>
                </a:solidFill>
                <a:latin typeface="Calibri"/>
              </a:defRPr>
            </a:pPr>
            <a:r>
              <a:t>CMCS × DAMAC AI Transformation Proposal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Boardroom executive briefing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353312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38988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140817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Executive Summary &amp; Current vs Future 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73936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1051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182880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DAMAC PMWeb Use Cases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94560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23113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249424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Why Direct AI-to-PMWeb Is Risky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615184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26700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Recommended Enterprise Architecture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035808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07238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309067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AI Model Comparison &amp; Recommendation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56432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49300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351129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Enterprise Pricing &amp; Cost Optimization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77056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91363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3931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Phased Implementation Strategy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297680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33425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" y="4352544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Security, Governance &amp; Controls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718304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7548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" y="47731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Future Vision — DAMAC AI Governance Platform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38928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17550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" y="519379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Final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Challenges, opportunity, and transformation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Governed enterprise AI over PMWeb — not uncontrolled connectivity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61872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Procurement and commercial workflows on PMWeb generate high-value data trapped in documents and contracts.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Manual summarization and tender analysis create bottlenecks and visibility gaps for leadership.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AI accelerates decisions only when deployed as a governed intelligence layer over enterprise truth.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Recommended AI platform: Claude Enterprise behind an Enterprise Orchestration Layer.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Start with contract intelligence POC; scale to DAMAC AI Governance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261872"/>
            <a:ext cx="3657600" cy="292608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31837"/>
                </a:solidFill>
                <a:latin typeface="Calibri"/>
              </a:defRPr>
            </a:pPr>
            <a:r>
              <a:t>Strategic 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901952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A1A"/>
                </a:solidFill>
                <a:latin typeface="Calibri"/>
              </a:defRPr>
            </a:pPr>
            <a:r>
              <a:t>"AI should explain enterprise truth,</a:t>
            </a:r>
            <a:br/>
            <a:r>
              <a:t>not derive uncontrolled truth."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Current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Operational friction across procurement &amp; commercial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261872"/>
            <a:ext cx="54864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371600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Manual Effort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19072"/>
            <a:ext cx="3154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Heavy manual work in bid packs, BAFO comparisons, and CO approvals.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26187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1261872"/>
            <a:ext cx="54864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0832" y="1371600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No Executive Summaries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0832" y="1719072"/>
            <a:ext cx="3154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Leadership lacks trusted summaries of tenders and contracts.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126187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1261872"/>
            <a:ext cx="54864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28432" y="1371600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Slow Tender 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1719072"/>
            <a:ext cx="3154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Decisions delayed by document review and deviation analysis.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04495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044952"/>
            <a:ext cx="54864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154680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Limited Visibility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502152"/>
            <a:ext cx="3154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No on-demand access to project status, unit mix, or vendor insights.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304495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3044952"/>
            <a:ext cx="54864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0832" y="3154680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Governance Gap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2" y="3502152"/>
            <a:ext cx="3154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Risk of shadow AI and ungoverned database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Current State vs Future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Transformation narrative for boardroom stakeholders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5257800" cy="4114800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3990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6B6B"/>
                </a:solidFill>
                <a:latin typeface="Calibri"/>
              </a:defRPr>
            </a:pPr>
            <a:r>
              <a:t>CURRENT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764792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contract &amp; tender summarization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Fragmented document repositories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Reactive management reporting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Siloed PMWeb data access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 AI audit trail or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9077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261872"/>
            <a:ext cx="5257800" cy="41148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13990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31837"/>
                </a:solidFill>
                <a:latin typeface="Calibri"/>
              </a:defRPr>
            </a:pPr>
            <a:r>
              <a:t>FUTURE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764792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AI-assisted governance &amp; summarization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Enterprise Knowledge Layer + RAG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Executive AI chatbot with citations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Governed API orchestration to PMWeb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AI Governance Platform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Opportunity: AI-assisted governance — not ungoverned AI connectivity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Commitment, contracts, management chatbot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Procurement, commercial &amp; management scenarios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34290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261872"/>
            <a:ext cx="54864" cy="41148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371600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Commitment / CO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19072"/>
            <a:ext cx="315468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Bid summarization &amp; BAFO comparison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Technical recommendations &amp; benchmarking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Deviations, exclusions &amp; T&amp;C summaries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261872"/>
            <a:ext cx="34290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261872"/>
            <a:ext cx="54864" cy="41148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371600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Contract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1719072"/>
            <a:ext cx="315468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AI clause extraction &amp; summarization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Auto-population of PMWeb fields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Contract intelligence repository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61872"/>
            <a:ext cx="34290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261872"/>
            <a:ext cx="54864" cy="41148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2" y="1371600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Management AI Chatbot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2" y="1719072"/>
            <a:ext cx="315468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Project &amp; package status queries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Building config, unit mix, awards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Vendor &amp; subcontractor insights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Use Case 1 — Commitment / CO Approval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Accelerate procurement decisions with governed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Bid Summarization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Executive summaries from tender submissions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7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7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BAFO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Commercial &amp; technical comparison matrices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4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4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6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Technical Recommendations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6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Evaluation summaries with citations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Historical Benchmarking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Compare against prior awards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4527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7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19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Deviations / Exclusions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19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Highlight material deviations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0414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0414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6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Contract T&amp;Cs Summary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65006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Condensed terms for approval committees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44068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5321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 → Ingestion → RAG → Claude Summarization → Human Approval → PMWeb 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Use Case 2 — AI-Assisted Contract Summarization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Reduce manual effort with enterprise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49377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261872"/>
            <a:ext cx="54864" cy="15087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37160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AI Clause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19072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Payment, LDs, warranties, termination clauses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Mapped to PMWeb contract schema fields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53512"/>
            <a:ext cx="4937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95351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06324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Auto-Population of PMWeb Fields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10712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Governed API writes only — never AI-to-database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Human-in-the-loop before record updates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1261872"/>
            <a:ext cx="580644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6440" y="1261872"/>
            <a:ext cx="54864" cy="3108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71032" y="1371600"/>
            <a:ext cx="5532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Contract Intelligence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71032" y="1719072"/>
            <a:ext cx="5532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1. Secure contract PDF ingestion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2. OCR, chunking, vector indexing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3. Claude Enterprise extracts clauses &amp; summaries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4. Orchestration validates schema + RBAC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5. Analyst reviews with citations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6. Approved data synced via PMWeb API</a:t>
            </a:r>
          </a:p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Outcome: 60–80% reduction in manual effort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Use Case 3 — Management AI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Conversational access to governed PMWeb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Project / Package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Pipeline view across developments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7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7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Building Configuration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Typology, floors, areas, specifications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4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4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6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Unit Mix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6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Inventory by type, size, price band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Design 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Design criteria and approval status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4527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7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19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Awarded Values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19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Contract values, variations, commitments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0414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0414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6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Vendor Insights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65006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Performance, awards, risk flags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44068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5321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RBAC-filtered • Citation-linked • Audit-logged • No direct database inference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Governed truth, not uncontrolled inference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Ungoverned connectivity threatens data and decision integrity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Direct DB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SQL/DB credentials create exposure and injection risk.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7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7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Hallucinations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Fabricated figures or clauses are catastrophic in procurement.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4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4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6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Security Breach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6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Uncontrolled prompts may leak PII and commercial terms.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No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Shadow AI bypasses DAMAC policies and data residency.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4527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7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19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No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19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Leadership cannot explain how answers were produced.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0414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0414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6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Inaccurate Answers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65006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Stale embeddings and wrong document versions.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44068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5321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"AI should explain enterprise truth, not derive uncontrolled truth."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Anti-Pattern vs Recommended 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Architecture decision with enterprise consequences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5120640" cy="3977639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31837"/>
                </a:solidFill>
                <a:latin typeface="Calibri"/>
              </a:defRPr>
            </a:pPr>
            <a:r>
              <a:t>✕  ANTI-PATTERN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1856232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36192" y="1947672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Claude / 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386584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2660904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36192" y="2752344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/ 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191256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3465576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36192" y="3557016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99592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616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No RBAC • No citations • No audit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261872"/>
            <a:ext cx="525780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371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01228"/>
                </a:solidFill>
                <a:latin typeface="Calibri"/>
              </a:defRPr>
            </a:pPr>
            <a:r>
              <a:t>✓  RECOMMENDED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1764792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18562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2331720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2423160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+ Governance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2898648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2990088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0" y="3465576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3557016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4032504"/>
            <a:ext cx="4297680" cy="47548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4123944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API-first orchestration and RAG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Governed intelligence layer — API-first, auditable, cloud-native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1261872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1952" y="1353312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1645920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Dashboards • Chatbot • Approvals • Citations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82880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1920240"/>
            <a:ext cx="8961120" cy="56692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01952" y="2011680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2304288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6B6B"/>
                </a:solidFill>
                <a:latin typeface="Calibri"/>
              </a:defRPr>
            </a:pPr>
            <a:r>
              <a:t>Document intelligence • Reasoning • Summarization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248716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2578608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01952" y="2670048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20" y="2962656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6B6B"/>
                </a:solidFill>
                <a:latin typeface="Calibri"/>
              </a:defRPr>
            </a:pPr>
            <a:r>
              <a:t>Guardrails • Human-in-loop • Audit • Cost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314553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3236976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01952" y="3328416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20" y="3621024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6B6B"/>
                </a:solidFill>
                <a:latin typeface="Calibri"/>
              </a:defRPr>
            </a:pPr>
            <a:r>
              <a:t>Vector DB • RAG • Ingestion • Versioning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380390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0" y="3895344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01952" y="3986784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20" y="4279392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6B6B"/>
                </a:solidFill>
                <a:latin typeface="Calibri"/>
              </a:defRPr>
            </a:pPr>
            <a:r>
              <a:t>PMWeb APIs • ETL • Schema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4462272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4553712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01952" y="4645152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20" y="4937760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6B6B"/>
                </a:solidFill>
                <a:latin typeface="Calibri"/>
              </a:defRPr>
            </a:pPr>
            <a:r>
              <a:t>System of record — contracts, tenders, projects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2356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01228"/>
                </a:solidFill>
                <a:latin typeface="Calibri"/>
              </a:defRPr>
            </a:pPr>
            <a:r>
              <a:t>RBAC  |  Audit Logs  |  Prompt Logging  |  Citations  |  Vector DB  |  RAG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RAG &amp; Knowledge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Retrieval-augmented generation with enterprise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3990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4904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6916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47672" y="13990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20824" y="14904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Ingestion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6916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83864" y="13990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7016" y="14904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Embedding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9744" y="16916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0056" y="13990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93208" y="14904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16916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6248" y="13990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4904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RAG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8" y="16916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1399032"/>
            <a:ext cx="1325880" cy="86868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5592" y="14904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Claude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6916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28632" y="13990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14904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Response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2496312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2496312"/>
            <a:ext cx="54864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60604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Document Ingestion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295351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PDF, Word, PMWeb exports — OCR and classification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2496312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2496312"/>
            <a:ext cx="54864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6792" y="260604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Orchestration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6792" y="295351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Policy routing, fallbacks, evaluation hooks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3639312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3639312"/>
            <a:ext cx="54864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74904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AI Governance Layer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409651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PII redaction, output validation, kill switch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3639312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3639312"/>
            <a:ext cx="54864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6792" y="374904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PMWeb APIs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6792" y="409651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Read via APIs; write only after human approval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Single recommendation: Claude Enterprise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Enterprise evaluation — single recommended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261872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Enterprise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OpenAI GPT-5/4.1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Document Summarization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Analysis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Hallucination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Governance Capability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Context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1M–2M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 Readiness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PMWeb Fit (DAMAC)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70916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80060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Recommendation: Claude Enterprise — best fit for contract, tender &amp; document intelligence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Recommended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Single enterprise AI standard for DAMAC PMWeb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1106424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1490472"/>
            <a:ext cx="1417320" cy="329184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361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RECOMMENDED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03911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1A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862072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Primary enterprise AI for DAMAC PMWeb governance layer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Industry-leading document &amp; contract summarization with long context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Lowest hallucination risk for legal, commercial, and procurement text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Strong enterprise governance: RBAC integration, audit, data controls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Consistent model family (Haiku / Sonnet / Opus) for cost-tiered workloads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Unified vendor relationship simplifies security review and DPAs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11064240" cy="5029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4589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One platform. One governance model. Orchestration layer routes Haiku → Sonnet → Opus by task complexity.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Enterprise Pricing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Claude-centric cost model and scenarios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Claude Enterprise API Pricing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Per-million-token rates — primary cost model for DAMAC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261872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DAMAC 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Retrieval, classification, chatbot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&amp; tender summarization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Complex contracts, executive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29535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6B6B"/>
                </a:solidFill>
                <a:latin typeface="Calibri"/>
              </a:defRPr>
            </a:pPr>
            <a:r>
              <a:t>Reference pricing (May 2026 indicative). Competitors shown for context only.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319272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Comparable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$8.80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4919472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standardizes on Claude — no multi-vendor routing complexity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caching: up to 90% savings on repeated contract templates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reduces tokens sent to Sonnet/Opus by pre-filtering relevant chunks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Monthly Enterprise Cost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Realistic DAMAC workloads — Claude Enterprise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261872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Volume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Est. Monthly (USD)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1,000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+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$8,500 – $14,000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Summarizations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 / month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(long docs)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$4,200 – $7,500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Management Chatbot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500 users × 20 queries/day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+ 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$5,500 – $10,500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Combined (Phase 3)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workloads + caching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Tiered routing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$16,000 – $28,000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Platform (Phase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+ governance infra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$30,000 – $48,000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38679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31837"/>
                </a:solidFill>
                <a:latin typeface="Calibri"/>
              </a:defRPr>
            </a:pPr>
            <a:r>
              <a:t>Cost Optimization Strategies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33672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 for repeated tender and contract templates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Haiku for retrieval and chatbot triage; Sonnet for synthesis; Opus for complex packs only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architecture limits context sent to premium models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Batch off-peak processing for non-urgent summarization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Per-Use-Case Cost Breakdown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Business case validation — Claude Enterprise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26187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Token Assumption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/ Unit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Monthly Est.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~80K in / 4K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BAFO pack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~200K in / 8K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Chatbot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~2K in / 500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Executive summary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~120K in / 6K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36576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490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Scenarios: 1,000 contracts + 200 tenders + 500 chatbot users ≈ $22,000 – $26,000 / month at scale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Implementation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Phased roadmap and timelines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Phased Implementation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Disciplined delivery with measurable value at each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71600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3183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627632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Contract Summarization POC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130552"/>
            <a:ext cx="2432304" cy="29260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57984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2–3 weeks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54203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PMWeb API integration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RAG MVP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Claude extraction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Approval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1261872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9856" y="1371600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3183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9856" y="1627632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1A1A"/>
                </a:solidFill>
                <a:latin typeface="Calibri"/>
              </a:defRPr>
            </a:pPr>
            <a:r>
              <a:t>Tender Recommendation Engine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9856" y="2130552"/>
            <a:ext cx="2432304" cy="292608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2157984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E31837"/>
                </a:solidFill>
                <a:latin typeface="Calibri"/>
              </a:defRPr>
            </a:pPr>
            <a:r>
              <a:t>4–6 weeks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9856" y="254203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BAFO automation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Deviation detection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Benchmarking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PMWeb workflows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71616" y="1261872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1344" y="1371600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3183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1627632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1A1A"/>
                </a:solidFill>
                <a:latin typeface="Calibri"/>
              </a:defRPr>
            </a:pPr>
            <a:r>
              <a:t>Executive AI Chatbot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2130552"/>
            <a:ext cx="2432304" cy="292608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81344" y="2157984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E31837"/>
                </a:solidFill>
                <a:latin typeface="Calibri"/>
              </a:defRPr>
            </a:pPr>
            <a:r>
              <a:t>2–3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254203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Management queries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RBAC + citations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500-user pilot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PMWeb sync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33104" y="1261872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2832" y="1371600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31837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42832" y="1627632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1A1A"/>
                </a:solidFill>
                <a:latin typeface="Calibri"/>
              </a:defRPr>
            </a:pPr>
            <a:r>
              <a:t>AI Governance Platform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42832" y="2130552"/>
            <a:ext cx="2432304" cy="292608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2157984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E31837"/>
                </a:solidFill>
                <a:latin typeface="Calibri"/>
              </a:defRPr>
            </a:pPr>
            <a:r>
              <a:t>4–6 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2832" y="254203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Full audit &amp; compliance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Predictive analytics</a:t>
            </a:r>
          </a:p>
          <a:p>
            <a:pPr>
              <a:spcAft>
                <a:spcPts val="5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DAMAC AI standards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Implementation 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Program duration: ~9–11 months | Quick win: 2–3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33472"/>
            <a:ext cx="11064240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68246" y="2496312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862072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980944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31837"/>
                </a:solidFill>
                <a:latin typeface="Calibri"/>
              </a:defRPr>
            </a:pPr>
            <a:r>
              <a:t>Week 1–3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27832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47872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Contract POC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4306" y="2496312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06140" y="2862072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97580" y="2980944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31837"/>
                </a:solidFill>
                <a:latin typeface="Calibri"/>
              </a:defRPr>
            </a:pPr>
            <a:r>
              <a:t>Week 4–9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7580" y="3227832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7580" y="3547872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Tender Engine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00366" y="2496312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72200" y="2862072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980944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31837"/>
                </a:solidFill>
                <a:latin typeface="Calibri"/>
              </a:defRPr>
            </a:pPr>
            <a:r>
              <a:t>Month 3–5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27832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47872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Chatbot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66426" y="2496312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38260" y="2862072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29700" y="2980944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31837"/>
                </a:solidFill>
                <a:latin typeface="Calibri"/>
              </a:defRPr>
            </a:pPr>
            <a:r>
              <a:t>Month 6–11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3227832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29700" y="3547872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Governance Platform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0292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1206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Total program: 9–11 months to DAMAC AI Governance Platform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Security &amp;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RBAC, audit, human-in-the-loop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Security &amp; Governance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Enterprise controls aligned to DAMAC 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261872"/>
            <a:ext cx="54864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37160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19072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Aligned to PMWeb permissions — procurement, commercial, executive.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1261872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0128" y="1261872"/>
            <a:ext cx="54864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37160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Audit Logging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719072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Who asked, which documents, which model, which output.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71616" y="1261872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71616" y="1261872"/>
            <a:ext cx="54864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7160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Prompt Logging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1719072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Full capture for compliance and incident review.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33104" y="1261872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1261872"/>
            <a:ext cx="54864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137160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AI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7696" y="1719072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Approved models, data rules, output validation gates.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136391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136391"/>
            <a:ext cx="54864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246119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3593591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Mandatory approval before PMWeb writes.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10128" y="3136391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10128" y="3136391"/>
            <a:ext cx="54864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3246119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3593591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PII redaction, encryption, UAE residency options.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1616" y="3136391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71616" y="3136391"/>
            <a:ext cx="54864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3246119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DAMAC Controls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593591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SSO, retention policies, vendor DPAs, SOC2 providers.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33104" y="3136391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833104" y="3136391"/>
            <a:ext cx="54864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97696" y="3246119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Secure APIs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97696" y="3593591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API gateway, mTLS, vault — zero DB credentials to AI.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AI Governance Control Plane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Centralized policy enforcement across all workloads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3520440"/>
            <a:ext cx="2743200" cy="10515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377647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AI Governance</a:t>
            </a:r>
            <a:br/>
            <a:r>
              <a:t>Control Plane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24231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 &amp; SSO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9992" y="24231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&amp; Compliance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452628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452628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Model Allowlist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2608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51663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 Approval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51663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Classification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DAMAC AI Governance Platform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Future Vision — DAMAC AI Governance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Enterprise-wide procurement and project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Predictive Procurement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Pricing trends, bid competitiveness, award outcomes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7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7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AI Risk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Vendor and subcontractor risk across portfolio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4" y="12618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4" y="1261872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6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Vendor 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6" y="1719072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SLA compliance and anomaly patterns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Unusual pricing, scope gaps, compliance deviations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4527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7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19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Project Intelligence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19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Cross-project cost, schedule, design insights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0414" y="28346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0414" y="2834640"/>
            <a:ext cx="54864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6" y="294436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Calibri"/>
              </a:defRPr>
            </a:pPr>
            <a:r>
              <a:t>Executive Copilots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65006" y="329184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AI advisors for CEO, CFO, procurement leadership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44068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5321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Vision: DAMAC AI Governance Platform — trusted intelligence for all enterprise decisions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31837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Decision ask and next steps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"/>
            <a:ext cx="1320394" cy="347472"/>
          </a:xfrm>
          <a:prstGeom prst="rect">
            <a:avLst/>
          </a:prstGeom>
        </p:spPr>
      </p:pic>
      <p:pic>
        <p:nvPicPr>
          <p:cNvPr id="6" name="Picture 5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73152"/>
            <a:ext cx="140817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Consulting conclusion — governed enterprise AI for DAMAC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2362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61872"/>
            <a:ext cx="6583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Build the Enterprise AI Orchestration Layer first — before production AI workloads.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Avoid direct AI-to-database architecture — API-first governed PMWeb connectivity only.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Standardize on Claude Enterprise as the enterprise AI platform for PMWeb intelligence.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Deploy AI as a governed layer that explains enterprise truth with citations.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Start with Contract Intelligence POC (Phase 1) — demonstrable value in 2–3 weeks.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Scale to DAMAC AI Governance Platform over 9–11 months.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261872"/>
            <a:ext cx="4114800" cy="32004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144475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31837"/>
                </a:solidFill>
                <a:latin typeface="Calibri"/>
              </a:defRPr>
            </a:pPr>
            <a:r>
              <a:t>Decision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901952"/>
            <a:ext cx="374903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Phase 1 POC budget &amp; team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Nominate DAMAC executive sponsor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Confirm PMWeb API access scope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Claude Enterprise as AI standard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Establish AI governance steering committee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068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01228"/>
                </a:solidFill>
                <a:latin typeface="Calibri"/>
              </a:defRPr>
            </a:pPr>
            <a:r>
              <a:t>Build the intelligence layer that governs how AI serves DAMAC — not ungoverned connectivity.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1737360" cy="45720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051560"/>
            <a:ext cx="166420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1A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31837"/>
                </a:solidFill>
                <a:latin typeface="Calibri"/>
              </a:defRPr>
            </a:pPr>
            <a:r>
              <a:t>Enterprise AI Governance &amp; Intelligence Layer for PMWeb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CMCS × DAMAC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