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1743456" cy="475488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292608"/>
            <a:ext cx="1867989" cy="502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600200"/>
            <a:ext cx="82296" cy="23774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20"/>
            <a:ext cx="102412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3200" b="1">
                <a:solidFill>
                  <a:srgbClr val="1A1A1A"/>
                </a:solidFill>
                <a:latin typeface="Calibri"/>
              </a:defRPr>
            </a:pPr>
            <a:r>
              <a:t>Enterprise AI Governance &amp;</a:t>
            </a:r>
            <a:br/>
            <a:r>
              <a:t>Intelligence Layer for PMWeb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880360"/>
            <a:ext cx="9875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400" b="0">
                <a:solidFill>
                  <a:srgbClr val="E31837"/>
                </a:solidFill>
                <a:latin typeface="Calibri"/>
              </a:defRPr>
            </a:pPr>
            <a:r>
              <a:t>Governed AI Orchestration — Not Direct AI-to-Database Connectivity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40156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0">
                <a:solidFill>
                  <a:srgbClr val="6B6B6B"/>
                </a:solidFill>
                <a:latin typeface="Calibri"/>
              </a:defRPr>
            </a:pPr>
            <a:r>
              <a:t>Executive Proposal for DAMAC Leadership &amp; Technology Stakeholders</a:t>
            </a:r>
          </a:p>
        </p:txBody>
      </p:sp>
      <p:pic>
        <p:nvPicPr>
          <p:cNvPr id="9" name="Picture 8" descr="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4114800"/>
            <a:ext cx="100584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808" y="534924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Prepared for DAMAC  |  May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CMCS × DAMAC AI Transformation Proposal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Boardroom executive briefing structure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810512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84708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186537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0">
                <a:solidFill>
                  <a:srgbClr val="2D2D2D"/>
                </a:solidFill>
                <a:latin typeface="Calibri"/>
              </a:defRPr>
            </a:pPr>
            <a:r>
              <a:t> Executive Summary &amp; Current vs Future State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231136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26771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28600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0">
                <a:solidFill>
                  <a:srgbClr val="2D2D2D"/>
                </a:solidFill>
                <a:latin typeface="Calibri"/>
              </a:defRPr>
            </a:pPr>
            <a:r>
              <a:t> DAMAC PMWeb Use Cases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651760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68833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2706624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0">
                <a:solidFill>
                  <a:srgbClr val="2D2D2D"/>
                </a:solidFill>
                <a:latin typeface="Calibri"/>
              </a:defRPr>
            </a:pPr>
            <a:r>
              <a:t> Why Direct AI-to-PMWeb Is Risky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072384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10896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312724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0">
                <a:solidFill>
                  <a:srgbClr val="2D2D2D"/>
                </a:solidFill>
                <a:latin typeface="Calibri"/>
              </a:defRPr>
            </a:pPr>
            <a:r>
              <a:t> Recommended Enterprise Architecture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493008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529584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" y="354787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0">
                <a:solidFill>
                  <a:srgbClr val="2D2D2D"/>
                </a:solidFill>
                <a:latin typeface="Calibri"/>
              </a:defRPr>
            </a:pPr>
            <a:r>
              <a:t> AI Model Comparison &amp; Recommendation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913632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395020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" y="3968496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0">
                <a:solidFill>
                  <a:srgbClr val="2D2D2D"/>
                </a:solidFill>
                <a:latin typeface="Calibri"/>
              </a:defRPr>
            </a:pPr>
            <a:r>
              <a:t> Enterprise Pricing &amp; Cost Optimization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334256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37083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" y="43891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0">
                <a:solidFill>
                  <a:srgbClr val="2D2D2D"/>
                </a:solidFill>
                <a:latin typeface="Calibri"/>
              </a:defRPr>
            </a:pPr>
            <a:r>
              <a:t> Phased Implementation Strategy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4754880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479145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" y="4809744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0">
                <a:solidFill>
                  <a:srgbClr val="2D2D2D"/>
                </a:solidFill>
                <a:latin typeface="Calibri"/>
              </a:defRPr>
            </a:pPr>
            <a:r>
              <a:t> Security, Governance &amp; Controls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175504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21208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" y="5230368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0">
                <a:solidFill>
                  <a:srgbClr val="2D2D2D"/>
                </a:solidFill>
                <a:latin typeface="Calibri"/>
              </a:defRPr>
            </a:pPr>
            <a:r>
              <a:t> Future Vision — DAMAC AI Governance Platform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596128"/>
            <a:ext cx="438912" cy="347472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632704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" y="5650992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0">
                <a:solidFill>
                  <a:srgbClr val="2D2D2D"/>
                </a:solidFill>
                <a:latin typeface="Calibri"/>
              </a:defRPr>
            </a:pPr>
            <a:r>
              <a:t> Final Recommendation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5" name="Picture 4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5332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4000" b="1">
                <a:solidFill>
                  <a:srgbClr val="E31837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3000" b="1">
                <a:solidFill>
                  <a:srgbClr val="1A1A1A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400" b="0">
                <a:solidFill>
                  <a:srgbClr val="6B6B6B"/>
                </a:solidFill>
                <a:latin typeface="Calibri"/>
              </a:defRPr>
            </a:pPr>
            <a:r>
              <a:t>Challenges, opportunity, and transformation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Governed enterprise AI over PMWeb — not uncontrolled connectivity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764792"/>
            <a:ext cx="67208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• Procurement and commercial workflows on PMWeb generate high-value data trapped in documents and contracts.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• Manual summarization and tender analysis create bottlenecks and visibility gaps for leadership.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• AI accelerates decisions only when deployed as a governed intelligence layer over enterprise truth.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• Recommended AI platform: Claude Enterprise behind an Enterprise Orchestration Layer.</a:t>
            </a:r>
          </a:p>
          <a:p>
            <a:pPr>
              <a:lnSpc>
                <a:spcPct val="120000"/>
              </a:lnSpc>
              <a:spcAft>
                <a:spcPts val="10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• Deliver full scoped program in 2–3 months: POC → tender engine → chatbot → governance platform.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1719072"/>
            <a:ext cx="4069080" cy="3977639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quo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680" y="1883664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21040" y="1901952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300" b="1">
                <a:solidFill>
                  <a:srgbClr val="E31837"/>
                </a:solidFill>
                <a:latin typeface="Calibri"/>
              </a:defRPr>
            </a:pPr>
            <a:r>
              <a:t>Strategic Thesis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2404872"/>
            <a:ext cx="3611880" cy="3154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"AI should explain enterprise truth,</a:t>
            </a:r>
            <a:br/>
            <a:r>
              <a:t>not derive uncontrolled truth."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Current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Operational friction across procurement &amp; commercial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719072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1719072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1847088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Manual Effort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194560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Heavy manual work in bid packs, BAFO comparisons, and CO approvals.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1719072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06240" y="1719072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1847088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No Executive Summaries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2194560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Leadership lacks trusted summaries of tenders and contracts.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1719072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63840" y="1719072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1847088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Slow Tender Cycles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2194560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Decisions delayed by document review and deviation analysis.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502152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502152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630168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Limited Visibility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977640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No on-demand access to project status, unit mix, or vendor insights.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06240" y="3502152"/>
            <a:ext cx="342900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06240" y="3502152"/>
            <a:ext cx="64008" cy="1600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3630168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Governance Gap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3977640"/>
            <a:ext cx="31089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Risk of shadow AI and ungoverned database access.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Current State vs Future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Transformation narrative for boardroom stakeholders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719072"/>
            <a:ext cx="5257800" cy="4114800"/>
          </a:xfrm>
          <a:prstGeom prst="roundRect">
            <a:avLst/>
          </a:prstGeom>
          <a:solidFill>
            <a:srgbClr val="F0F0F0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185623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400" b="1">
                <a:solidFill>
                  <a:srgbClr val="6B6B6B"/>
                </a:solidFill>
                <a:latin typeface="Calibri"/>
              </a:defRPr>
            </a:pPr>
            <a:r>
              <a:t>CURRENT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221992"/>
            <a:ext cx="4800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Manual contract &amp; tender summarization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Fragmented document repositories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Reactive management reporting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Siloed PMWeb data access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No AI audit trail or governance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336499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40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719072"/>
            <a:ext cx="5257800" cy="4114800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185623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400" b="1">
                <a:solidFill>
                  <a:srgbClr val="E31837"/>
                </a:solidFill>
                <a:latin typeface="Calibri"/>
              </a:defRPr>
            </a:pPr>
            <a:r>
              <a:t>FUTURE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221992"/>
            <a:ext cx="4800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AI-assisted governance &amp; summarization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Enterprise Knowledge Layer + RAG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Executive AI chatbot with citations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Governed API orchestration to PMWeb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DAMAC AI Governance Platform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449824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541264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Opportunity: AI-assisted governance — not ungoverned AI connectivity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5" name="Picture 4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5332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4000" b="1">
                <a:solidFill>
                  <a:srgbClr val="E31837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3000" b="1">
                <a:solidFill>
                  <a:srgbClr val="1A1A1A"/>
                </a:solidFill>
                <a:latin typeface="Calibri"/>
              </a:defRPr>
            </a:pPr>
            <a:r>
              <a:t>DAMAC PMWeb Use Cases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400" b="0">
                <a:solidFill>
                  <a:srgbClr val="6B6B6B"/>
                </a:solidFill>
                <a:latin typeface="Calibri"/>
              </a:defRPr>
            </a:pPr>
            <a:r>
              <a:t>Commitment, contracts, management chatbot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DAMAC PMWeb Use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Procurement, commercial &amp; management scenarios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719072"/>
            <a:ext cx="342900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1719072"/>
            <a:ext cx="64008" cy="397763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ocu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1828800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70432" y="1847088"/>
            <a:ext cx="2670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Commitment / CO Approval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194560"/>
            <a:ext cx="3108960" cy="344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Bid summarization &amp; BAFO comparison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Technical recommendations &amp; benchmarking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Deviations, exclusions &amp; T&amp;C summaries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1719072"/>
            <a:ext cx="342900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1719072"/>
            <a:ext cx="64008" cy="397763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ntra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1416" y="1828800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965192" y="1847088"/>
            <a:ext cx="2670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Contract Intelligence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94560"/>
            <a:ext cx="3108960" cy="344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AI clause extraction &amp; summarization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Auto-population of PMWeb fields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Contract intelligence repository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1719072"/>
            <a:ext cx="342900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2440" y="1719072"/>
            <a:ext cx="64008" cy="3977639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ha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0456" y="1828800"/>
            <a:ext cx="384048" cy="38404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714232" y="1847088"/>
            <a:ext cx="2670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Management AI Chatbot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194560"/>
            <a:ext cx="3108960" cy="344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Project &amp; package status queries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Building config, unit mix, awards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Vendor &amp; subcontractor insights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Use Case 1 — Commitment / CO Approval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Accelerate procurement decisions with governed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7190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1719072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184708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Bid Summarization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194560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Executive summaries from tender submissions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24527" y="17190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24527" y="1719072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7" y="184708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BAFO Comparison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7" y="2194560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Commercial &amp; technical comparison matrices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00414" y="17190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00414" y="1719072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3294" y="184708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Technical Recommendations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3294" y="2194560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Evaluation summaries with citations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2918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291840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41985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Historical Benchmarking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767328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Compare against prior awards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24527" y="32918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24527" y="3291840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07407" y="341985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Deviations / Exclusions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7" y="3767328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Highlight material deviations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00414" y="32918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00414" y="3291840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294" y="341985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Contract T&amp;Cs Summary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83294" y="3767328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Condensed terms for approval committees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48640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5778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PMWeb → Ingestion → RAG → Claude Summarization → Human Approval → PMWeb API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Use Case 2 — AI-Assisted Contract Summarization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Reduce manual effort with enterprise control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719072"/>
            <a:ext cx="49377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1719072"/>
            <a:ext cx="64008" cy="15087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1847088"/>
            <a:ext cx="4617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AI Clause Extraction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194560"/>
            <a:ext cx="461772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Payment, LDs, warranties, termination clauses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Mapped to PMWeb contract schema fields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4937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410712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538728"/>
            <a:ext cx="4617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Auto-Population of PMWeb Fields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886200"/>
            <a:ext cx="46177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Governed API writes only — never AI-to-database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Human-in-the-loop before record updates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06440" y="1719072"/>
            <a:ext cx="5806440" cy="3108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06440" y="1719072"/>
            <a:ext cx="64008" cy="31089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ontr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456" y="1828800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28232" y="1847088"/>
            <a:ext cx="5047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Contract Intelligence Workflow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2194560"/>
            <a:ext cx="5486400" cy="2578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1. Secure contract PDF ingestion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2. OCR, chunking, vector indexing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3. Claude Enterprise extracts clauses &amp; summaries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4. Orchestration validates schema + RBAC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5. Analyst reviews with citations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6. Approved data synced via PMWeb API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Outcome: 60–80% reduction in manual effort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Use Case 3 — Management AI Chatbot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Conversational access to governed PMWeb intelligence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7190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1719072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184708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Project / Package Status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194560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Pipeline view across developments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24527" y="17190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24527" y="1719072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7" y="184708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Building Configuration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7" y="2194560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Typology, floors, areas, specifications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00414" y="17190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00414" y="1719072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3294" y="184708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Unit Mix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3294" y="2194560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Inventory by type, size, price band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2918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291840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41985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Design Parameters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767328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Design criteria and approval status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24527" y="32918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24527" y="3291840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07407" y="341985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Awarded Values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7" y="3767328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Contract values, variations, commitments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00414" y="32918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00414" y="3291840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294" y="341985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Vendor Insights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83294" y="3767328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Performance, awards, risk flags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48640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5778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RBAC-filtered • Citation-linked • Audit-logged • No direct database inference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5" name="Picture 4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5332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4000" b="1">
                <a:solidFill>
                  <a:srgbClr val="E31837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3000" b="1">
                <a:solidFill>
                  <a:srgbClr val="1A1A1A"/>
                </a:solidFill>
                <a:latin typeface="Calibri"/>
              </a:defRPr>
            </a:pPr>
            <a:r>
              <a:t>Why Direct AI-to-PMWeb Is Risky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400" b="0">
                <a:solidFill>
                  <a:srgbClr val="6B6B6B"/>
                </a:solidFill>
                <a:latin typeface="Calibri"/>
              </a:defRPr>
            </a:pPr>
            <a:r>
              <a:t>Governed truth, not uncontrolled inference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Why Direct AI-to-PMWeb Is Risky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Ungoverned connectivity threatens data and decision integrity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7190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1719072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184708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Direct DB Access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194560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SQL/DB credentials create exposure and injection risk.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24527" y="17190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24527" y="1719072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7" y="184708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Hallucinations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7" y="2194560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Fabricated figures or clauses are catastrophic in procurement.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00414" y="17190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00414" y="1719072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3294" y="184708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Security Breach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3294" y="2194560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Uncontrolled prompts may leak PII and commercial terms.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2918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291840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41985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No Governance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767328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Shadow AI bypasses DAMAC policies and data residency.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24527" y="32918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24527" y="3291840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07407" y="341985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No Traceability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7" y="3767328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Leadership cannot explain how answers were produced.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00414" y="32918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00414" y="3291840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294" y="341985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Inaccurate Answers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83294" y="3767328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Stale embeddings and wrong document versions.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48640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5778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"AI should explain enterprise truth, not derive uncontrolled truth."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Anti-Pattern vs Recommended Pattern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Architecture decision with enterprise consequences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719072"/>
            <a:ext cx="5120640" cy="3977639"/>
          </a:xfrm>
          <a:prstGeom prst="roundRect">
            <a:avLst/>
          </a:prstGeom>
          <a:solidFill>
            <a:srgbClr val="F0F0F0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8288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300" b="1">
                <a:solidFill>
                  <a:srgbClr val="E31837"/>
                </a:solidFill>
                <a:latin typeface="Calibri"/>
              </a:defRPr>
            </a:pPr>
            <a:r>
              <a:t>✕  ANTI-PATTERN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2313432"/>
            <a:ext cx="329184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36192" y="2404872"/>
            <a:ext cx="3145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Claude / OpenAI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2843784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2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3118104"/>
            <a:ext cx="329184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36192" y="3209544"/>
            <a:ext cx="3145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Direct DB / 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3648456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2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63040" y="3922776"/>
            <a:ext cx="3291840" cy="53035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36192" y="4014216"/>
            <a:ext cx="3145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PMWeb Database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4453128"/>
            <a:ext cx="274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2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8188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No RBAC • No citations • No audit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1719072"/>
            <a:ext cx="5257800" cy="3977639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18288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300" b="1">
                <a:solidFill>
                  <a:srgbClr val="B01228"/>
                </a:solidFill>
                <a:latin typeface="Calibri"/>
              </a:defRPr>
            </a:pPr>
            <a:r>
              <a:t>✓  RECOMMENDED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2221992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31152" y="2313432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Management Experience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2788920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31152" y="2880360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Orchestration + Governance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3355848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31152" y="3447288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Enterprise Knowledge Layer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0" y="3922776"/>
            <a:ext cx="429768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31152" y="4014216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API / Integration Layer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0" y="4489704"/>
            <a:ext cx="4297680" cy="475488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31152" y="4581144"/>
            <a:ext cx="4151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PMWeb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5" name="Picture 4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5332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4000" b="1">
                <a:solidFill>
                  <a:srgbClr val="E31837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3000" b="1">
                <a:solidFill>
                  <a:srgbClr val="1A1A1A"/>
                </a:solidFill>
                <a:latin typeface="Calibri"/>
              </a:defRPr>
            </a:pPr>
            <a:r>
              <a:t>Recommended Enterprise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400" b="0">
                <a:solidFill>
                  <a:srgbClr val="6B6B6B"/>
                </a:solidFill>
                <a:latin typeface="Calibri"/>
              </a:defRPr>
            </a:pPr>
            <a:r>
              <a:t>API-first orchestration and RAG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Recommended Enterprise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Governed intelligence layer — API-first, auditable, cloud-native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28800" y="1719072"/>
            <a:ext cx="8961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01952" y="1810512"/>
            <a:ext cx="8814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Management Experience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2103120"/>
            <a:ext cx="886968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Dashboards • Chatbot • Approvals • Citations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228600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2377440"/>
            <a:ext cx="8961120" cy="566928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01952" y="2468880"/>
            <a:ext cx="8814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Claude Enterprise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20" y="2761488"/>
            <a:ext cx="886968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Document intelligence • Reasoning • Summarization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9632" y="2944368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28800" y="3035808"/>
            <a:ext cx="8961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01952" y="3127248"/>
            <a:ext cx="8814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AI Orchestration Layer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20" y="3419856"/>
            <a:ext cx="886968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Guardrails • Human-in-loop • Audit • Cost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3602736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28800" y="3694176"/>
            <a:ext cx="8961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01952" y="3785616"/>
            <a:ext cx="8814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Enterprise Knowledge Layer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20" y="4078224"/>
            <a:ext cx="886968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Vector DB • RAG • Ingestion • Versioning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9632" y="4261104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4352544"/>
            <a:ext cx="8961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01952" y="4443984"/>
            <a:ext cx="8814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API / Integration Layer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74520" y="4736592"/>
            <a:ext cx="886968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PMWeb APIs • ETL • Schema validation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9632" y="4919472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28800" y="5010912"/>
            <a:ext cx="8961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01952" y="5102352"/>
            <a:ext cx="88148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PMWeb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74520" y="5394960"/>
            <a:ext cx="886968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System of record — contracts, tenders, projects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48640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5778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000" b="1">
                <a:solidFill>
                  <a:srgbClr val="B01228"/>
                </a:solidFill>
                <a:latin typeface="Calibri"/>
              </a:defRPr>
            </a:pPr>
            <a:r>
              <a:t>RBAC  |  Audit Logs  |  Prompt Logging  |  Citations  |  Vector DB  |  RAG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RAG &amp; Knowledge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Retrieval-augmented generation with enterprise controls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856232"/>
            <a:ext cx="13258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" y="1947672"/>
            <a:ext cx="1179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PMWeb Docs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2148840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4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47672" y="1856232"/>
            <a:ext cx="13258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0824" y="1947672"/>
            <a:ext cx="1179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Ingestion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73552" y="2148840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4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83864" y="1856232"/>
            <a:ext cx="13258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57016" y="1947672"/>
            <a:ext cx="1179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Embedding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148840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4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0056" y="1856232"/>
            <a:ext cx="13258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93208" y="1947672"/>
            <a:ext cx="1179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Vector DB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5936" y="2148840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4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56248" y="1856232"/>
            <a:ext cx="13258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1947672"/>
            <a:ext cx="1179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RAG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82128" y="2148840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4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1856232"/>
            <a:ext cx="1325880" cy="868680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65592" y="1947672"/>
            <a:ext cx="1179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Claude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148840"/>
            <a:ext cx="20116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4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28632" y="1856232"/>
            <a:ext cx="132588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01784" y="1947672"/>
            <a:ext cx="1179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Response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2953512"/>
            <a:ext cx="534924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2953512"/>
            <a:ext cx="64008" cy="9601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3081528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Document Ingestion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50292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PDF, Word, PMWeb exports — OCR and classification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2200" y="2953512"/>
            <a:ext cx="534924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72200" y="2953512"/>
            <a:ext cx="64008" cy="9601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80" y="3081528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Orchestration Engine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3429000"/>
            <a:ext cx="50292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Policy routing, fallbacks, evaluation hooks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4096512"/>
            <a:ext cx="534924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4096512"/>
            <a:ext cx="64008" cy="9601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4224528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AI Governance Layer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4572000"/>
            <a:ext cx="50292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PII redaction, output validation, kill switch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72200" y="4096512"/>
            <a:ext cx="5349240" cy="960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172200" y="4096512"/>
            <a:ext cx="64008" cy="9601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55080" y="4224528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PMWeb APIs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55080" y="4572000"/>
            <a:ext cx="50292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Read via APIs; write only after human approval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5" name="Picture 4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5332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4000" b="1">
                <a:solidFill>
                  <a:srgbClr val="E31837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3000" b="1">
                <a:solidFill>
                  <a:srgbClr val="1A1A1A"/>
                </a:solidFill>
                <a:latin typeface="Calibri"/>
              </a:defRPr>
            </a:pPr>
            <a:r>
              <a:t>AI Model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400" b="0">
                <a:solidFill>
                  <a:srgbClr val="6B6B6B"/>
                </a:solidFill>
                <a:latin typeface="Calibri"/>
              </a:defRPr>
            </a:pPr>
            <a:r>
              <a:t>Single recommendation: Claude Enterprise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AI Model Comparison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Enterprise evaluation — single recommended platform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1719072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Claude Enterprise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OpenAI GPT-5/4.1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Azure OpenAI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Document Summarization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Analysis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Hallucination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Governance Capability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Context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200K–1M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128K–1M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1M–2M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Enterprise Readiness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PMWeb Fit (DAMAC)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548640" y="470916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80060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Recommendation: Claude Enterprise — best fit for contract, tender &amp; document intelligence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Recommended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Single enterprise AI standard for DAMAC PMWeb intelligence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719072"/>
            <a:ext cx="11064240" cy="3840480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039112"/>
            <a:ext cx="777240" cy="77724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645920" y="1975104"/>
            <a:ext cx="1417320" cy="329184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37360" y="20208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RECOMMENDED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2523744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3000" b="1">
                <a:solidFill>
                  <a:srgbClr val="1A1A1A"/>
                </a:solidFill>
                <a:latin typeface="Calibri"/>
              </a:defRPr>
            </a:pPr>
            <a:r>
              <a:t>Claude Enterprise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227832"/>
            <a:ext cx="9601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Primary enterprise AI for DAMAC PMWeb governance layer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Industry-leading document &amp; contract summarization with long context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Lowest hallucination risk for legal, commercial, and procurement text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Strong enterprise governance: RBAC integration, audit, data controls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Consistent model family (Haiku / Sonnet / Opus) for cost-tiered workloads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Unified vendor relationship simplifies security review and DPAs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257800"/>
            <a:ext cx="11064240" cy="475488"/>
          </a:xfrm>
          <a:prstGeom prst="round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358384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FFFFFF"/>
                </a:solidFill>
                <a:latin typeface="Calibri"/>
              </a:defRPr>
            </a:pPr>
            <a:r>
              <a:t>One platform. One governance model. Orchestration layer routes Haiku → Sonnet → Opus by task complexity.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5" name="Picture 4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5332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4000" b="1">
                <a:solidFill>
                  <a:srgbClr val="E31837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3000" b="1">
                <a:solidFill>
                  <a:srgbClr val="1A1A1A"/>
                </a:solidFill>
                <a:latin typeface="Calibri"/>
              </a:defRPr>
            </a:pPr>
            <a:r>
              <a:t>Enterprise Pricing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400" b="0">
                <a:solidFill>
                  <a:srgbClr val="6B6B6B"/>
                </a:solidFill>
                <a:latin typeface="Calibri"/>
              </a:defRPr>
            </a:pPr>
            <a:r>
              <a:t>Claude-centric cost model and scenarios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Claude Enterprise API Pricing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Per-million-token rates — primary cost model for DAMAC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1719072"/>
          <a:ext cx="7772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Claude Model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 ($/1M)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 ($/1M)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DAMAC Use Case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Haiku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Retrieval, classification, chatbot triage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4.5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$3.00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$15.00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&amp; tender summarization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Opus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$75.00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Complex contracts, executive summaries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48640" y="341071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0">
                <a:solidFill>
                  <a:srgbClr val="6B6B6B"/>
                </a:solidFill>
                <a:latin typeface="Calibri"/>
              </a:defRPr>
            </a:pPr>
            <a:r>
              <a:t>Reference pricing (May 2026 indicative). Competitors shown for context only.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3776472"/>
          <a:ext cx="7772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3429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Comparable Tier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Azure OpenAI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GPT-4.1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$2.20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$8.80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Enterprise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48640" y="5376672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DAMAC standardizes on Claude — no multi-vendor routing complexity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Prompt caching: up to 90% savings on repeated contract templates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RAG reduces tokens sent to Sonnet/Opus by pre-filtering relevant chunks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Monthly Enterprise Cost Scenarios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Realistic DAMAC workloads — Claude Enterprise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1719072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Volume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Claude Tier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Est. Monthly (USD)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Summaries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1,000 /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+ 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$8,500 – $14,000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Tender Summarizations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200 / month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 (long docs)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$4,200 – $7,500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Management Chatbot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500 users × 20 queries/day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Haiku + Sonnet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$5,500 – $10,500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Combined (Phase 3)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All workloads + caching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Tiered routing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$16,000 – $28,000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Platform (Phase 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All + governance infra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Full stack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$30,000 – $48,000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48640" y="432511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300" b="1">
                <a:solidFill>
                  <a:srgbClr val="E31837"/>
                </a:solidFill>
                <a:latin typeface="Calibri"/>
              </a:defRPr>
            </a:pPr>
            <a:r>
              <a:t>Cost Optimization Strategies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690872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Prompt caching for repeated tender and contract templates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Haiku for retrieval and chatbot triage; Sonnet for synthesis; Opus for complex packs only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RAG architecture limits context sent to premium models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Batch off-peak processing for non-urgent summarization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Per-Use-Case Cost Breakdown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Business case validation — Claude Enterprise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1719072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3891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Token Assumption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 / Unit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Monthly Est.</a:t>
                      </a:r>
                    </a:p>
                  </a:txBody>
                  <a:tcPr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Contract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~80K in / 4K 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Tender BAFO pack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~200K in / 8K out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Sonnet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$0.82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$6,400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Chatbot query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~2K in / 500 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$0.003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$6,500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Executive summary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~120K in / 6K out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Opus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$2.10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$1,800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548640" y="365760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7490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Scenarios: 1,000 contracts + 200 tenders + 500 chatbot users ≈ $22,000 – $26,000 / month at scale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5" name="Picture 4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5332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4000" b="1">
                <a:solidFill>
                  <a:srgbClr val="E31837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3000" b="1">
                <a:solidFill>
                  <a:srgbClr val="1A1A1A"/>
                </a:solidFill>
                <a:latin typeface="Calibri"/>
              </a:defRPr>
            </a:pPr>
            <a:r>
              <a:t>Implementation Strategy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400" b="0">
                <a:solidFill>
                  <a:srgbClr val="6B6B6B"/>
                </a:solidFill>
                <a:latin typeface="Calibri"/>
              </a:defRPr>
            </a:pPr>
            <a:r>
              <a:t>2–3 month delivery | slope, phases &amp; timeline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Phased Implementation 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Full program scope delivered in 2–3 months — parallel workstreams where possible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719072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1828800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084832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1A1A1A"/>
                </a:solidFill>
                <a:latin typeface="Calibri"/>
              </a:defRPr>
            </a:pPr>
            <a:r>
              <a:t>Contract Summarization POC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587752"/>
            <a:ext cx="2432304" cy="292608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615184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900" b="1">
                <a:solidFill>
                  <a:srgbClr val="FFFFFF"/>
                </a:solidFill>
                <a:latin typeface="Calibri"/>
              </a:defRPr>
            </a:pPr>
            <a:r>
              <a:t>Weeks 1–3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999232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PMWeb API integration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RAG MVP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Claude extraction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Approval UI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0128" y="1719072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9856" y="1828800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9856" y="2084832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1A1A1A"/>
                </a:solidFill>
                <a:latin typeface="Calibri"/>
              </a:defRPr>
            </a:pPr>
            <a:r>
              <a:t>Tender Recommendation Engine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19856" y="2587752"/>
            <a:ext cx="2432304" cy="292608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19856" y="2615184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Weeks 4–6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9856" y="2999232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BAFO automation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Deviation detection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Benchmarking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PMWeb workflows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71616" y="1719072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81344" y="1828800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1344" y="2084832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1A1A1A"/>
                </a:solidFill>
                <a:latin typeface="Calibri"/>
              </a:defRPr>
            </a:pPr>
            <a:r>
              <a:t>Executive AI Chatbot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2587752"/>
            <a:ext cx="2432304" cy="292608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81344" y="2615184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Weeks 7–9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1344" y="2999232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Management queries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RBAC + citations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500-user pilot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PMWeb sync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33104" y="1719072"/>
            <a:ext cx="265176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42832" y="1828800"/>
            <a:ext cx="243230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PHASE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42832" y="2084832"/>
            <a:ext cx="2432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1">
                <a:solidFill>
                  <a:srgbClr val="1A1A1A"/>
                </a:solidFill>
                <a:latin typeface="Calibri"/>
              </a:defRPr>
            </a:pPr>
            <a:r>
              <a:t>AI Governance Platform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42832" y="2587752"/>
            <a:ext cx="2432304" cy="292608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42832" y="2615184"/>
            <a:ext cx="24323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Weeks 10–12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42832" y="2999232"/>
            <a:ext cx="2432304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Full audit &amp; compliance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Governance control plane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900">
                <a:solidFill>
                  <a:srgbClr val="6B6B6B"/>
                </a:solidFill>
                <a:latin typeface="Calibri"/>
              </a:defRPr>
            </a:pPr>
            <a:r>
              <a:t>• DAMAC AI standards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Delivery Slope Definition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How capability, effort, and business value accelerate across the program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719072"/>
            <a:ext cx="512064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1719072"/>
            <a:ext cx="64008" cy="19659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1847088"/>
            <a:ext cx="4800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What Is the Delivery Slope?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194560"/>
            <a:ext cx="4800600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The slope is the rate at which DAMAC gains governed AI capability and business value.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Early weeks: foundation (APIs, RAG, governance shell) — lower visible value, critical risk reduction.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Mid program: steepening slope — tender intelligence and chatbot drive executive visibility.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Final weeks: plateau toward enterprise standard — full governance platform operational.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97880" y="1719072"/>
            <a:ext cx="525780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97880" y="1719072"/>
            <a:ext cx="64008" cy="19659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60" y="1847088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Slope Dimensions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2194560"/>
            <a:ext cx="4937760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Technical maturity: POC → production orchestration → enterprise control plane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User adoption: analyst pilots → procurement teams → executive management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Governance rigor: basic audit → RBAC + citations → full compliance &amp; HITL</a:t>
            </a:r>
          </a:p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Business value: time saved on contracts → tender cycle compression → portfolio intelligence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0325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Value &amp; Capability Ramp (2–3 Month Program)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51560" y="6153912"/>
            <a:ext cx="10058400" cy="27432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51560" y="4416552"/>
            <a:ext cx="27432" cy="1737360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285232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900" b="1">
                <a:solidFill>
                  <a:srgbClr val="6B6B6B"/>
                </a:solidFill>
                <a:latin typeface="Calibri"/>
              </a:defRPr>
            </a:pPr>
            <a:r>
              <a:t>Value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88720" y="5771693"/>
            <a:ext cx="2336292" cy="382219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88720" y="6199632"/>
            <a:ext cx="23362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Wk 1–3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515661"/>
            <a:ext cx="23362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700" b="0">
                <a:solidFill>
                  <a:srgbClr val="6B6B6B"/>
                </a:solidFill>
                <a:latin typeface="Calibri"/>
              </a:defRPr>
            </a:pPr>
            <a:r>
              <a:t>Foundation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34740" y="5372100"/>
            <a:ext cx="2336292" cy="7818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4740" y="6199632"/>
            <a:ext cx="23362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Wk 4–6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34740" y="5116068"/>
            <a:ext cx="23362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700" b="0">
                <a:solidFill>
                  <a:srgbClr val="6B6B6B"/>
                </a:solidFill>
                <a:latin typeface="Calibri"/>
              </a:defRPr>
            </a:pPr>
            <a:r>
              <a:t>Accelerate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80760" y="4903013"/>
            <a:ext cx="2336292" cy="1250899"/>
          </a:xfrm>
          <a:prstGeom prst="roundRect">
            <a:avLst/>
          </a:prstGeom>
          <a:solidFill>
            <a:srgbClr val="E31837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80760" y="6199632"/>
            <a:ext cx="23362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Wk 7–9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646981"/>
            <a:ext cx="23362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700" b="0">
                <a:solidFill>
                  <a:srgbClr val="6B6B6B"/>
                </a:solidFill>
                <a:latin typeface="Calibri"/>
              </a:defRPr>
            </a:pPr>
            <a:r>
              <a:t>Steep climb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26780" y="4416552"/>
            <a:ext cx="2336292" cy="1737360"/>
          </a:xfrm>
          <a:prstGeom prst="roundRect">
            <a:avLst/>
          </a:prstGeom>
          <a:solidFill>
            <a:srgbClr val="E31837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26780" y="6199632"/>
            <a:ext cx="23362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Wk 10–12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6780" y="4160520"/>
            <a:ext cx="233629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700" b="0">
                <a:solidFill>
                  <a:srgbClr val="6B6B6B"/>
                </a:solidFill>
                <a:latin typeface="Calibri"/>
              </a:defRPr>
            </a:pPr>
            <a:r>
              <a:t>Enterprise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98280" y="42793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1000" b="1">
                <a:solidFill>
                  <a:srgbClr val="E31837"/>
                </a:solidFill>
                <a:latin typeface="Calibri"/>
              </a:defRPr>
            </a:pPr>
            <a:r>
              <a:t>↗ Delivery Slope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6409944"/>
            <a:ext cx="10058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Month 1          Month 2          Month 3  (10–12 weeks total)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48640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5778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Target: complete Phases 1–4 in 2–3 months | Accelerated track: ~8–10 weeks with parallel squads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Implementation Timeline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Total program duration: 2–3 months (10–12 weeks)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90672"/>
            <a:ext cx="11064240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68246" y="2953512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319272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438144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Weeks 1–3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685032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005072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Contract POC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34306" y="2953512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406140" y="3319272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97580" y="3438144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Weeks 4–6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7580" y="3685032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7580" y="4005072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Tender Engine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00366" y="2953512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72200" y="3319272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438144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Weeks 7–9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3685032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4005072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Chatbot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266426" y="2953512"/>
            <a:ext cx="109728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938260" y="3319272"/>
            <a:ext cx="25374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29700" y="3438144"/>
            <a:ext cx="2400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Weeks 10–12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9700" y="3685032"/>
            <a:ext cx="24003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Phase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29700" y="4005072"/>
            <a:ext cx="24003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000" b="0">
                <a:solidFill>
                  <a:srgbClr val="6B6B6B"/>
                </a:solidFill>
                <a:latin typeface="Calibri"/>
              </a:defRPr>
            </a:pPr>
            <a:r>
              <a:t>Governance Platform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48640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5778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Full scope (contract POC + tender engine + chatbot + governance platform) within 2–3 months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5" name="Picture 4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5332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4000" b="1">
                <a:solidFill>
                  <a:srgbClr val="E31837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3000" b="1">
                <a:solidFill>
                  <a:srgbClr val="1A1A1A"/>
                </a:solidFill>
                <a:latin typeface="Calibri"/>
              </a:defRPr>
            </a:pPr>
            <a:r>
              <a:t>Security &amp;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400" b="0">
                <a:solidFill>
                  <a:srgbClr val="6B6B6B"/>
                </a:solidFill>
                <a:latin typeface="Calibri"/>
              </a:defRPr>
            </a:pPr>
            <a:r>
              <a:t>RBAC, audit, human-in-the-loop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Security &amp; Governance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Enterprise controls aligned to DAMAC policies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719072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1719072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184708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RBAC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194560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Aligned to PMWeb permissions — procurement, commercial, executive.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10128" y="1719072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10128" y="1719072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93008" y="184708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Audit Logging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2194560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Who asked, which documents, which model, which output.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71616" y="1719072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71616" y="1719072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54496" y="184708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Prompt Logging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4496" y="2194560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Full capture for compliance and incident review.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33104" y="1719072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33104" y="1719072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15984" y="184708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AI Governance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5984" y="2194560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Approved models, data rules, output validation gates.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3593591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3593591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3721607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Human-in-the-Loop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069079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Mandatory approval before PMWeb writes.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10128" y="3593591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10128" y="3593591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93008" y="3721607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Data Privacy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93008" y="4069079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PII redaction, encryption, UAE residency options.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71616" y="3593591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71616" y="3593591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54496" y="3721607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DAMAC Controls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54496" y="4069079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SSO, retention policies, vendor DPAs, SOC2 providers.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833104" y="3593591"/>
            <a:ext cx="260604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833104" y="3593591"/>
            <a:ext cx="64008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15984" y="3721607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Secure APIs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15984" y="4069079"/>
            <a:ext cx="2286000" cy="1161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API gateway, mTLS, vault — zero DB credentials to AI.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AI Governance Control Plane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Centralized policy enforcement across all workloads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3520440"/>
            <a:ext cx="2743200" cy="1051560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377647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300" b="1">
                <a:solidFill>
                  <a:srgbClr val="FFFFFF"/>
                </a:solidFill>
                <a:latin typeface="Calibri"/>
              </a:defRPr>
            </a:pPr>
            <a:r>
              <a:t>AI Governance</a:t>
            </a:r>
            <a:br/>
            <a:r>
              <a:t>Control Plane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3317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42316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RBAC &amp; SSO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23317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9992" y="242316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Audit &amp; Compliance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3484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452628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Prompt Management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06840" y="443484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9992" y="452628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Model Allowlist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50749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9232" y="516636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Human Approval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5074920"/>
            <a:ext cx="233172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5392" y="5166360"/>
            <a:ext cx="2185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1A1A1A"/>
                </a:solidFill>
                <a:latin typeface="Calibri"/>
              </a:defRPr>
            </a:pPr>
            <a:r>
              <a:t>Data Classification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5" name="Picture 4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5332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4000" b="1">
                <a:solidFill>
                  <a:srgbClr val="E31837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3000" b="1">
                <a:solidFill>
                  <a:srgbClr val="1A1A1A"/>
                </a:solidFill>
                <a:latin typeface="Calibri"/>
              </a:defRPr>
            </a:pPr>
            <a:r>
              <a:t>Future Vision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400" b="0">
                <a:solidFill>
                  <a:srgbClr val="6B6B6B"/>
                </a:solidFill>
                <a:latin typeface="Calibri"/>
              </a:defRPr>
            </a:pPr>
            <a:r>
              <a:t>DAMAC AI Governance Platform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Future Vision — DAMAC AI Governance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Enterprise-wide procurement and project intelligence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7190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1719072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184708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Predictive Procurement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194560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Pricing trends, bid competitiveness, award outcomes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24527" y="17190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24527" y="1719072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7" y="184708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AI Risk Scoring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7" y="2194560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Vendor and subcontractor risk across portfolio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00414" y="1719072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00414" y="1719072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3294" y="184708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Vendor Performance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3294" y="2194560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SLA compliance and anomaly patterns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2918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291840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41985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Anomaly Detection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767328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Unusual pricing, scope gaps, compliance deviations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24527" y="32918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24527" y="3291840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07407" y="341985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Project Intelligence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7" y="3767328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Cross-project cost, schedule, design insights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00414" y="3291840"/>
            <a:ext cx="35204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00414" y="3291840"/>
            <a:ext cx="64008" cy="1417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294" y="341985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200" b="1">
                <a:solidFill>
                  <a:srgbClr val="1A1A1A"/>
                </a:solidFill>
                <a:latin typeface="Calibri"/>
              </a:defRPr>
            </a:pPr>
            <a:r>
              <a:t>Executive Copilots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83294" y="3767328"/>
            <a:ext cx="320040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defRPr sz="1000">
                <a:solidFill>
                  <a:srgbClr val="6B6B6B"/>
                </a:solidFill>
                <a:latin typeface="Calibri"/>
              </a:defRPr>
            </a:pPr>
            <a:r>
              <a:t>• AI advisors for CEO, CFO, procurement leadership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48640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5778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Vision: DAMAC AI Governance Platform — trusted intelligence for all enterprise decisions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5" name="Picture 4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053328"/>
            <a:ext cx="12191695" cy="71323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053328"/>
            <a:ext cx="12191695" cy="1828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2362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4000" b="1">
                <a:solidFill>
                  <a:srgbClr val="E31837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71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3000" b="1">
                <a:solidFill>
                  <a:srgbClr val="1A1A1A"/>
                </a:solidFill>
                <a:latin typeface="Calibri"/>
              </a:defRPr>
            </a:pPr>
            <a:r>
              <a:t>Final 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8620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400" b="0">
                <a:solidFill>
                  <a:srgbClr val="6B6B6B"/>
                </a:solidFill>
                <a:latin typeface="Calibri"/>
              </a:defRPr>
            </a:pPr>
            <a:r>
              <a:t>Decision ask and next steps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"/>
            <a:ext cx="1341120" cy="365760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73152"/>
            <a:ext cx="1426464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75488"/>
            <a:ext cx="12191695" cy="10972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30352"/>
            <a:ext cx="1005840" cy="2743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486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900" b="1">
                <a:solidFill>
                  <a:srgbClr val="E31837"/>
                </a:solidFill>
                <a:latin typeface="Calibri"/>
              </a:defRPr>
            </a:pPr>
            <a:r>
              <a:t>SECTION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0467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2400" b="1">
                <a:solidFill>
                  <a:srgbClr val="1A1A1A"/>
                </a:solidFill>
                <a:latin typeface="Calibri"/>
              </a:defRPr>
            </a:pPr>
            <a:r>
              <a:t>Final Recommendation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1064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100" b="0">
                <a:solidFill>
                  <a:srgbClr val="6B6B6B"/>
                </a:solidFill>
                <a:latin typeface="Calibri"/>
              </a:defRPr>
            </a:pPr>
            <a:r>
              <a:t>Consulting conclusion — governed enterprise AI for DAMAC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1572768"/>
            <a:ext cx="12191695" cy="13716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053328"/>
            <a:ext cx="12191695" cy="80467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053328"/>
            <a:ext cx="12191695" cy="228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199632"/>
            <a:ext cx="7132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800" b="0">
                <a:solidFill>
                  <a:srgbClr val="6B6B6B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619963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defRPr sz="8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719072"/>
            <a:ext cx="6583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Build the Enterprise AI Orchestration Layer first — before production AI workloads.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Avoid direct AI-to-database architecture — API-first governed PMWeb connectivity only.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Standardize on Claude Enterprise as the enterprise AI platform for PMWeb intelligence.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Deploy AI as a governed layer that explains enterprise truth with citations.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Start with Contract Intelligence POC (Phase 1) — demonstrable value by Week 3.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300">
                <a:solidFill>
                  <a:srgbClr val="2D2D2D"/>
                </a:solidFill>
                <a:latin typeface="Calibri"/>
              </a:defRPr>
            </a:pPr>
            <a:r>
              <a:t>• Complete full program scope in 2–3 months (Phases 1–4).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1719072"/>
            <a:ext cx="4114800" cy="3200400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0" y="1901952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defRPr sz="1400" b="1">
                <a:solidFill>
                  <a:srgbClr val="E31837"/>
                </a:solidFill>
                <a:latin typeface="Calibri"/>
              </a:defRPr>
            </a:pPr>
            <a:r>
              <a:t>Decision 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359152"/>
            <a:ext cx="374903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Approve Phase 1 POC budget &amp; team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Nominate DAMAC executive sponsor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Confirm PMWeb API access scope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Approve Claude Enterprise as AI standard</a:t>
            </a:r>
          </a:p>
          <a:p>
            <a:pPr>
              <a:lnSpc>
                <a:spcPct val="120000"/>
              </a:lnSpc>
              <a:spcAft>
                <a:spcPts val="8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• Establish AI governance steering committee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486400"/>
            <a:ext cx="11064240" cy="438912"/>
          </a:xfrm>
          <a:prstGeom prst="roundRect">
            <a:avLst/>
          </a:prstGeom>
          <a:solidFill>
            <a:srgbClr val="FDF2F4"/>
          </a:solidFill>
          <a:ln w="9525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577840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100" b="1">
                <a:solidFill>
                  <a:srgbClr val="B01228"/>
                </a:solidFill>
                <a:latin typeface="Calibri"/>
              </a:defRPr>
            </a:pPr>
            <a:r>
              <a:t>Build the intelligence layer that governs how AI serves DAMAC — not ungoverned connectivity.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ama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0" y="502920"/>
            <a:ext cx="1609344" cy="438912"/>
          </a:xfrm>
          <a:prstGeom prst="rect">
            <a:avLst/>
          </a:prstGeom>
        </p:spPr>
      </p:pic>
      <p:pic>
        <p:nvPicPr>
          <p:cNvPr id="4" name="Picture 3" descr="cm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475488"/>
            <a:ext cx="1698171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2860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4000" b="1">
                <a:solidFill>
                  <a:srgbClr val="1A1A1A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600" b="0">
                <a:solidFill>
                  <a:srgbClr val="E31837"/>
                </a:solidFill>
                <a:latin typeface="Calibri"/>
              </a:defRPr>
            </a:pPr>
            <a:r>
              <a:t>Enterprise AI Governance &amp; Intelligence Layer for PMWeb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defRPr sz="1200" b="0">
                <a:solidFill>
                  <a:srgbClr val="6B6B6B"/>
                </a:solidFill>
                <a:latin typeface="Calibri"/>
              </a:defRPr>
            </a:pPr>
            <a:r>
              <a:t>CMCS × DAMAC  |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