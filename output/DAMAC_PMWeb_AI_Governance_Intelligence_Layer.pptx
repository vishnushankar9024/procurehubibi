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911096" cy="502920"/>
          </a:xfrm>
          <a:prstGeom prst="rect">
            <a:avLst/>
          </a:prstGeom>
        </p:spPr>
      </p:pic>
      <p:pic>
        <p:nvPicPr>
          <p:cNvPr id="4" name="Picture 3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92608"/>
            <a:ext cx="185623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691640"/>
            <a:ext cx="91440" cy="21945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Calibri"/>
              </a:defRPr>
            </a:pPr>
            <a:r>
              <a:t>Enterprise AI Governance &amp;</a:t>
            </a:r>
            <a:br/>
            <a:r>
              <a:t>Intelligence Layer for PMWeb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31837"/>
                </a:solidFill>
                <a:latin typeface="Calibri"/>
              </a:defRPr>
            </a:pPr>
            <a:r>
              <a:t>Governed AI Orchestration — Not Direct AI-to-Database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Executive Proposal for DAMAC Leadership &amp; Technology Stakeholders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Prepared for DAMAC  | 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2362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CMCS × DAMAC AI Transformation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Boardroom executive briefing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53312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89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40817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Executive Summary &amp; Current vs Future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73936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18288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DAMAC PMWeb Use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94560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311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24942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Why Direct AI-to-PMWeb Is Risky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15184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6700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Recommended Enterprise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35808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7238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090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AI Model Comparison &amp; Recommendation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456432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930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51129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Enterprise Pricing &amp; Cost Optimization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77056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13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3931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Phased Implementation Strategy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97680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342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35254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Security, Governance &amp; Controls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18304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54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47731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Future Vision — DAMAC AI Governance Platform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38928"/>
            <a:ext cx="438912" cy="347472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7550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51937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Final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Challenges, opportunity, and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Governed enterprise AI over PMWeb — not uncontrolled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61872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Procurement and commercial workflows on PMWeb generate high-value data trapped in documents and contracts.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Manual summarization and tender analysis create bottlenecks and visibility gaps for leadership.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AI accelerates decisions only when deployed as a governed intelligence layer over enterprise truth.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Recommended AI platform: Claude Enterprise behind an Enterprise Orchestration Layer.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Deliver full scoped program in 2–3 months: POC → tender engine → chatbot → governance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61872"/>
            <a:ext cx="3657600" cy="2926080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44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31837"/>
                </a:solidFill>
                <a:latin typeface="Calibri"/>
              </a:defRPr>
            </a:pPr>
            <a:r>
              <a:t>Strategic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0195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"AI should explain enterprise truth,</a:t>
            </a:r>
            <a:br/>
            <a:r>
              <a:t>not derive uncontrolled truth."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Operational friction across procurement &amp; commercial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600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Manual 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Heavy manual work in bid packs, BAFO comparisons, and CO approvals.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26187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261872"/>
            <a:ext cx="54864" cy="1600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13716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No Executive Summaries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1719072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Leadership lacks trusted summaries of tenders and contracts.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26187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261872"/>
            <a:ext cx="54864" cy="1600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2" y="13716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Slow Tender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1719072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Decisions delayed by document review and deviation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4495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044952"/>
            <a:ext cx="54864" cy="1600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1546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Limited 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502152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No on-demand access to project status, unit mix, or vendor insights.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04495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044952"/>
            <a:ext cx="54864" cy="1600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31546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Governance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3502152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Risk of shadow AI and ungoverned database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Current State vs Future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Transformation narrative for boardroom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5257800" cy="41148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399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6B6B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64792"/>
            <a:ext cx="4800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Manual contract &amp; tender summarization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Fragmented document repositories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Reactive management reporting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Siloed PMWeb data access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No AI audit trail or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9077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318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61872"/>
            <a:ext cx="5257800" cy="4114800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399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1837"/>
                </a:solidFill>
                <a:latin typeface="Calibri"/>
              </a:defRPr>
            </a:pPr>
            <a:r>
              <a:t>FUTURE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764792"/>
            <a:ext cx="4800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AI-assisted governance &amp; summarization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Enterprise Knowledge Layer + RAG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Executive AI chatbot with citations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Governed API orchestration to PMWeb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DAMAC AI Governance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7784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Opportunity: AI-assisted governance — not ungoverned AI connectivity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DAMAC PMWeb 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Commitment, contracts, management chatbot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DAMAC PMWeb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Procurement, commercial &amp; management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34290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4114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Commitment / CO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3154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Bid summarization &amp; BAFO comparison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Technical recommendations &amp; benchmarking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Deviations, exclusions &amp; T&amp;C summaries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261872"/>
            <a:ext cx="34290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261872"/>
            <a:ext cx="54864" cy="4114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3716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719072"/>
            <a:ext cx="3154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AI clause extraction &amp; summarization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Auto-population of PMWeb fields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Contract intelligence repository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61872"/>
            <a:ext cx="34290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261872"/>
            <a:ext cx="54864" cy="4114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13716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Management AI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1719072"/>
            <a:ext cx="3154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Project &amp; package status queries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Building config, unit mix, awards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Vendor &amp; subcontractor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Use Case 1 — Commitment / CO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Accelerate procurement decisions with governed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Bid 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Executive summaries from tender submissions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7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7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BAFO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Commercial &amp; technical comparison matrices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4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4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6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Technical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6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Evaluation summaries with citations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Historical Benchmarking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Compare against prior awards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7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7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19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Deviations / Exclusions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Highlight material deviations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0414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0414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6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Contract T&amp;Cs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6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Condensed terms for approval committees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3212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PMWeb → Ingestion → RAG → Claude Summarization → Human Approval → PMWeb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Use Case 2 — AI-Assisted Contract Summarization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Reduce manual effort with enterprise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49377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5087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AI Clause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Payment, LDs, warranties, termination clauses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Mapped to PMWeb contract schema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53512"/>
            <a:ext cx="49377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5351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063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Auto-Population of PMWeb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10712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Governed API writes only — never AI-to-database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Human-in-the-loop before record updates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261872"/>
            <a:ext cx="5806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1261872"/>
            <a:ext cx="54864" cy="31089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137160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Contract Intelligence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1719072"/>
            <a:ext cx="55321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1. Secure contract PDF ingestion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2. OCR, chunking, vector indexing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3. Claude Enterprise extracts clauses &amp; summaries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4. Orchestration validates schema + RBAC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5. Analyst reviews with citations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6. Approved data synced via PMWeb API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Outcome: 60–80% reduction in manual effort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Use Case 3 — Management AI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Conversational access to governed PMWeb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Project / Package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Pipeline view across developments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7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7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Building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Typology, floors, areas, specifications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4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4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6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Unit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6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Inventory by type, size, price band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Design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Design criteria and approval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7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7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19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Awarded 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Contract values, variations, commitments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0414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0414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6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Vendor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6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Performance, awards, risk flags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3212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RBAC-filtered • Citation-linked • Audit-logged • No direct database inference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Why Direct AI-to-PMWeb Is Risky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Governed truth, not uncontrolled inference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Why Direct AI-to-PMWeb Is Risky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Ungoverned connectivity threatens data and decision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Direct DB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SQL/DB credentials create exposure and injection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7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7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Hallucinations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Fabricated figures or clauses are catastrophic in procurement.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4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4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6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Security Breach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6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Uncontrolled prompts may leak PII and commercial terms.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No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Shadow AI bypasses DAMAC policies and data residency.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7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7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19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No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Leadership cannot explain how answers were produced.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0414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0414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6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Inaccurate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6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Stale embeddings and wrong document versions.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3212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"AI should explain enterprise truth, not derive uncontrolled truth."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Anti-Pattern vs Recommended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Architecture decision with enterprise consequences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5120640" cy="3977639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31837"/>
                </a:solidFill>
                <a:latin typeface="Calibri"/>
              </a:defRPr>
            </a:pPr>
            <a:r>
              <a:t>✕  ANTI-PATTERN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1856232"/>
            <a:ext cx="329184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1947672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Claude /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38658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660904"/>
            <a:ext cx="329184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275234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Direct DB /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19125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3465576"/>
            <a:ext cx="329184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3557016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PMWeb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9959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No RBAC • No citations • No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261872"/>
            <a:ext cx="5257800" cy="3977639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1228"/>
                </a:solidFill>
                <a:latin typeface="Calibri"/>
              </a:defRPr>
            </a:pPr>
            <a:r>
              <a:t>✓  RECOMMENDED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764792"/>
            <a:ext cx="429768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18562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Management Experience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331720"/>
            <a:ext cx="429768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2423160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AI Orchestration + Governance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2898648"/>
            <a:ext cx="429768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2990088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Enterprise Knowledge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465576"/>
            <a:ext cx="429768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3557016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API / Integration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4032504"/>
            <a:ext cx="4297680" cy="475488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4123944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PMWeb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Recommended Enterprise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API-first orchestration and RAG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Recommended Enterprise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Governed intelligence layer — API-first, auditable, cloud-native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1261872"/>
            <a:ext cx="8961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1353312"/>
            <a:ext cx="8814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Management Experience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1645920"/>
            <a:ext cx="88696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Dashboards • Chatbot • Approvals •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828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1920240"/>
            <a:ext cx="8961120" cy="566928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11680"/>
            <a:ext cx="8814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Claude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304288"/>
            <a:ext cx="88696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Calibri"/>
              </a:defRPr>
            </a:pPr>
            <a:r>
              <a:t>Document intelligence • Reasoning • Summarization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4871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578608"/>
            <a:ext cx="8961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1952" y="2670048"/>
            <a:ext cx="8814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AI Orchestration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2962656"/>
            <a:ext cx="88696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Calibri"/>
              </a:defRPr>
            </a:pPr>
            <a:r>
              <a:t>Guardrails • Human-in-loop • Audit • Cost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1455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236976"/>
            <a:ext cx="8961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1952" y="3328416"/>
            <a:ext cx="8814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Enterprise Knowledge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3621024"/>
            <a:ext cx="88696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Calibri"/>
              </a:defRPr>
            </a:pPr>
            <a:r>
              <a:t>Vector DB • RAG • Ingestion • Versioning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80390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895344"/>
            <a:ext cx="8961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3986784"/>
            <a:ext cx="8814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API / Integration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4279392"/>
            <a:ext cx="88696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Calibri"/>
              </a:defRPr>
            </a:pPr>
            <a:r>
              <a:t>PMWeb APIs • ETL • Schema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4622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31837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553712"/>
            <a:ext cx="8961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1952" y="4645152"/>
            <a:ext cx="8814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PMWeb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20" y="4937760"/>
            <a:ext cx="88696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Calibri"/>
              </a:defRPr>
            </a:pPr>
            <a:r>
              <a:t>System of record — contracts, tenders, projects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3212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2356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1228"/>
                </a:solidFill>
                <a:latin typeface="Calibri"/>
              </a:defRPr>
            </a:pPr>
            <a:r>
              <a:t>RBAC  |  Audit Logs  |  Prompt Logging  |  Citations  |  Vector DB  |  RAG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RAG &amp; Knowledge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Retrieval-augmented generation with enterprise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399032"/>
            <a:ext cx="1325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49047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PMWeb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69164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18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47672" y="1399032"/>
            <a:ext cx="1325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20824" y="149047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169164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18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83864" y="1399032"/>
            <a:ext cx="1325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7016" y="149047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169164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18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0056" y="1399032"/>
            <a:ext cx="1325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3208" y="149047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69164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18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1399032"/>
            <a:ext cx="1325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49047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169164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18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399032"/>
            <a:ext cx="1325880" cy="868680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149047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69164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318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632" y="1399032"/>
            <a:ext cx="1325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149047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496312"/>
            <a:ext cx="53492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2496312"/>
            <a:ext cx="54864" cy="9601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26060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Document Ingestion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295351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PDF, Word, PMWeb exports — OCR and classification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496312"/>
            <a:ext cx="53492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2496312"/>
            <a:ext cx="54864" cy="9601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26060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Orchestration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295351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Policy routing, fallbacks, evaluation hooks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639312"/>
            <a:ext cx="53492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639312"/>
            <a:ext cx="54864" cy="9601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37490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AI Governance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409651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PII redaction, output validation, kill switch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3639312"/>
            <a:ext cx="53492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3639312"/>
            <a:ext cx="54864" cy="9601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6792" y="37490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PMWeb APIs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409651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Read via APIs; write only after human approval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AI Model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Single recommendation: Claude Enterprise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AI Model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Enterprise evaluation — single recommended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261872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Enterprise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OpenAI GPT-5/4.1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OpenAI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Document Summarization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Contract Analysis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Hallucination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Governance Capability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Context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200K–1M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128K–1M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1M–2M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Enterprise Readiness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PMWeb Fit (DAMAC)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70916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Recommendation: Claude Enterprise — best fit for contract, tender &amp; document intelligence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Recommended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Single enterprise AI standard for DAMAC PMWeb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11064240" cy="3977639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1490472"/>
            <a:ext cx="1417320" cy="329184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5361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03911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Claude 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62072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Primary enterprise AI for DAMAC PMWeb governance layer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Industry-leading document &amp; contract summarization with long context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Lowest hallucination risk for legal, commercial, and procurement text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Strong enterprise governance: RBAC integration, audit, data controls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Consistent model family (Haiku / Sonnet / Opus) for cost-tiered workloads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Unified vendor relationship simplifies security review and DPAs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64240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589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One platform. One governance model. Orchestration layer routes Haiku → Sonnet → Opus by task complexity.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Enterprise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Claude-centric cost model and scenarios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Claude Enterprise API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Per-million-token rates — primary cost model for DAMAC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261872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Model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($/1M)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($/1M)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DAMAC Use Case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Haiku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Retrieval, classification, chatbot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 4.5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$3.00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$15.00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Contract &amp; tender summarization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Opus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Complex contracts, executive summaries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29535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Reference pricing (May 2026 indicative). Competitors shown for context only.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319272"/>
          <a:ext cx="7772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Comparable Tier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Azure OpenAI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$2.20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$8.80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4919472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DAMAC standardizes on Claude — no multi-vendor routing complexity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Prompt caching: up to 90% savings on repeated contract templates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RAG reduces tokens sent to Sonnet/Opus by pre-filtering relevant chunks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Monthly Enterprise Cost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Realistic DAMAC workloads — Claude 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261872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Tier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Monthly (USD)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Contract Summaries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1,000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 +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$8,500 – $14,000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Tender Summarizations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200 / month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 (long docs)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$4,200 – $7,500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Management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500 users × 20 queries/day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Haiku + 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$5,500 – $10,500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Combined (Phase 3)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All workloads + caching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Tiered routing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$16,000 – $28,000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 Platform (Phase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All + governance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$30,000 – $48,000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3867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31837"/>
                </a:solidFill>
                <a:latin typeface="Calibri"/>
              </a:defRPr>
            </a:pPr>
            <a:r>
              <a:t>Cost Optimization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33672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Prompt caching for repeated tender and contract templates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Haiku for retrieval and chatbot triage; Sonnet for synthesis; Opus for complex packs only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RAG architecture limits context sent to premium models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Batch off-peak processing for non-urgent summarization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Per-Use-Case Cost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Business case validation — Claude Enterprise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261872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 Assumption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/ Unit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Est.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Contract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~80K in / 4K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Tender BAFO pack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~200K in / 8K out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$0.82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$6,400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Chatbot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~2K in / 500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Executive summary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~120K in / 6K out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Opus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$2.10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365760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Scenarios: 1,000 contracts + 200 tenders + 500 chatbot users ≈ $22,000 – $26,000 / month at scale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Implementation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2–3 month delivery | slope, phases &amp; timeline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Phased Implementation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Full program scope delivered in 2–3 months — parallel workstreams where 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265176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716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276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Contract Summarization POC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130552"/>
            <a:ext cx="2432304" cy="29260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542032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PMWeb API integration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RAG MVP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Claude extraction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Approval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1261872"/>
            <a:ext cx="265176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13716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16276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Tender Recommendation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9856" y="2130552"/>
            <a:ext cx="2432304" cy="29260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1579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31837"/>
                </a:solidFill>
                <a:latin typeface="Calibri"/>
              </a:defRPr>
            </a:pPr>
            <a:r>
              <a:t>Weeks 4–6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2542032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BAFO automation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Deviation detection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Benchmarking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PMWeb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71616" y="1261872"/>
            <a:ext cx="265176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4" y="13716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16276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Executive AI Chatbot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2130552"/>
            <a:ext cx="2432304" cy="29260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21579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31837"/>
                </a:solidFill>
                <a:latin typeface="Calibri"/>
              </a:defRPr>
            </a:pPr>
            <a:r>
              <a:t>Weeks 7–9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2542032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Management queries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RBAC + citations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500-user pilot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PMWeb sync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33104" y="1261872"/>
            <a:ext cx="265176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2832" y="1371600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16276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AI Governance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2832" y="2130552"/>
            <a:ext cx="2432304" cy="29260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21579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31837"/>
                </a:solidFill>
                <a:latin typeface="Calibri"/>
              </a:defRPr>
            </a:pPr>
            <a:r>
              <a:t>Weeks 10–12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2542032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Full audit &amp; compliance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Governance control plane</a:t>
            </a:r>
          </a:p>
          <a:p>
            <a:pPr>
              <a:spcAft>
                <a:spcPts val="500"/>
              </a:spcAft>
              <a:defRPr sz="900">
                <a:solidFill>
                  <a:srgbClr val="6B6B6B"/>
                </a:solidFill>
                <a:latin typeface="Calibri"/>
              </a:defRPr>
            </a:pPr>
            <a:r>
              <a:t>• DAMAC AI standards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Delivery Slope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How capability, effort, and business value accelerate across the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51206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9659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What Is the Delivery Slope?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The slope is the rate at which DAMAC gains governed AI capability and business value.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Early weeks: foundation (APIs, RAG, governance shell) — lower visible value, critical risk reduction.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Mid program: steepening slope — tender intelligence and chatbot drive executive visibility.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Final weeks: plateau toward enterprise standard — full governance platform operational.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261872"/>
            <a:ext cx="52578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261872"/>
            <a:ext cx="54864" cy="19659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137160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Slope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1719072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Technical maturity: POC → production orchestration → enterprise control plane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User adoption: analyst pilots → procurement teams → executive management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Governance rigor: basic audit → RBAC + citations → full compliance &amp; HITL</a:t>
            </a:r>
          </a:p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Business value: time saved on contracts → tender cycle compression → portfolio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02152"/>
            <a:ext cx="110642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753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Value &amp; Capability Ramp (2–3 Month Program)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696712"/>
            <a:ext cx="10058400" cy="2743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3959352"/>
            <a:ext cx="27432" cy="173736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2803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6B6B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314493"/>
            <a:ext cx="2336292" cy="382219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742432"/>
            <a:ext cx="23362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31837"/>
                </a:solidFill>
                <a:latin typeface="Calibri"/>
              </a:defRPr>
            </a:pPr>
            <a:r>
              <a:t>Wk 1–3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58461"/>
            <a:ext cx="23362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6B6B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34740" y="4914900"/>
            <a:ext cx="2336292" cy="7818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4740" y="5742432"/>
            <a:ext cx="23362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31837"/>
                </a:solidFill>
                <a:latin typeface="Calibri"/>
              </a:defRPr>
            </a:pPr>
            <a:r>
              <a:t>Wk 4–6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4740" y="4658868"/>
            <a:ext cx="23362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6B6B"/>
                </a:solidFill>
                <a:latin typeface="Calibri"/>
              </a:defRPr>
            </a:pPr>
            <a:r>
              <a:t>Accelerate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4445813"/>
            <a:ext cx="2336292" cy="1250899"/>
          </a:xfrm>
          <a:prstGeom prst="roundRect">
            <a:avLst/>
          </a:prstGeom>
          <a:solidFill>
            <a:srgbClr val="E31837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742432"/>
            <a:ext cx="23362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31837"/>
                </a:solidFill>
                <a:latin typeface="Calibri"/>
              </a:defRPr>
            </a:pPr>
            <a:r>
              <a:t>Wk 7–9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189781"/>
            <a:ext cx="23362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6B6B"/>
                </a:solidFill>
                <a:latin typeface="Calibri"/>
              </a:defRPr>
            </a:pPr>
            <a:r>
              <a:t>Steep climb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26780" y="3959352"/>
            <a:ext cx="2336292" cy="1737360"/>
          </a:xfrm>
          <a:prstGeom prst="roundRect">
            <a:avLst/>
          </a:prstGeom>
          <a:solidFill>
            <a:srgbClr val="E31837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6780" y="5742432"/>
            <a:ext cx="23362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31837"/>
                </a:solidFill>
                <a:latin typeface="Calibri"/>
              </a:defRPr>
            </a:pPr>
            <a:r>
              <a:t>Wk 10–12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6780" y="3703320"/>
            <a:ext cx="23362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6B6B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31837"/>
                </a:solidFill>
                <a:latin typeface="Calibri"/>
              </a:defRPr>
            </a:pPr>
            <a:r>
              <a:t>↗ Delivery Slope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9527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Calibri"/>
              </a:defRPr>
            </a:pPr>
            <a:r>
              <a:t>Month 1          Month 2          Month 3  (10–12 weeks total)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53212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62356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Target: complete Phases 1–4 in 2–3 months | Accelerated track: ~8–10 weeks with parallel squads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Total program duration: 2–3 months (10–12 weeks)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33472"/>
            <a:ext cx="11064240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8246" y="2496312"/>
            <a:ext cx="109728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862072"/>
            <a:ext cx="25374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80944"/>
            <a:ext cx="2400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27832"/>
            <a:ext cx="2400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47872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Contract POC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4306" y="2496312"/>
            <a:ext cx="109728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06140" y="2862072"/>
            <a:ext cx="25374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7580" y="2980944"/>
            <a:ext cx="2400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Weeks 4–6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7580" y="3227832"/>
            <a:ext cx="2400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80" y="3547872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Tender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00366" y="2496312"/>
            <a:ext cx="109728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2862072"/>
            <a:ext cx="25374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980944"/>
            <a:ext cx="2400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Weeks 7–9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27832"/>
            <a:ext cx="2400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47872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Chatbot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66426" y="2496312"/>
            <a:ext cx="109728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38260" y="2862072"/>
            <a:ext cx="25374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9700" y="2980944"/>
            <a:ext cx="2400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1837"/>
                </a:solidFill>
                <a:latin typeface="Calibri"/>
              </a:defRPr>
            </a:pPr>
            <a:r>
              <a:t>Weeks 10–12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9700" y="3227832"/>
            <a:ext cx="2400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9700" y="3547872"/>
            <a:ext cx="24003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Governance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2920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Full scope (contract POC + tender engine + chatbot + governance platform) within 2–3 months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Security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RBAC, audit, human-in-the-loop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Security &amp; Governance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Enterprise controls aligned to DAMAC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Aligned to PMWeb permissions — procurement, commercial, executive.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1261872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1261872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3716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7190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Who asked, which documents, which model, which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71616" y="1261872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71616" y="1261872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3716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Prompt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17190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Full capture for compliance and incident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3104" y="1261872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1261872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13716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AI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17190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Approved models, data rules, output validation gates.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36391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136391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246119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593591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Mandatory approval before PMWeb writes.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0128" y="3136391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0128" y="3136391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3246119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Data Privacy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593591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PII redaction, encryption, UAE residency options.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3136391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71616" y="3136391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246119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DAMAC 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593591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SSO, retention policies, vendor DPAs, SOC2 providers.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33104" y="3136391"/>
            <a:ext cx="26060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33104" y="3136391"/>
            <a:ext cx="54864" cy="1691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97696" y="3246119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Secure APIs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97696" y="3593591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API gateway, mTLS, vault — zero DB credentials to AI.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AI Governance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Centralized policy enforcement across all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520440"/>
            <a:ext cx="2743200" cy="1051560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7764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Governance</a:t>
            </a:r>
            <a:br/>
            <a:r>
              <a:t>Control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2331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423160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RBAC &amp; SSO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331720"/>
            <a:ext cx="2331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2423160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34840"/>
            <a:ext cx="2331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526280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Prompt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4434840"/>
            <a:ext cx="2331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4526280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Model Allowlist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074920"/>
            <a:ext cx="2331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5166360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Human Approval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074920"/>
            <a:ext cx="2331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5166360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Data Classification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Future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DAMAC AI Governance Platform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Future Vision — DAMAC AI Governance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Enterprise-wide procurement and project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Predictive Procurement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Pricing trends, bid competitiveness, award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7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7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AI Risk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Vendor and subcontractor risk across portfolio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4" y="1261872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4" y="1261872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6" y="1371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Vendor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6" y="1719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SLA compliance and anomaly patterns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Unusual pricing, scope gaps, compliance deviations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7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7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19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Project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Cross-project cost, schedule, design insights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0414" y="2834640"/>
            <a:ext cx="35204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0414" y="2834640"/>
            <a:ext cx="54864" cy="14173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6" y="29443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Executive Copilots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6" y="32918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t>• AI advisors for CEO, CFO, procurement leadership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068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3212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Vision: DAMAC AI Governance Platform — trusted intelligence for all enterprise decisions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5" name="Picture 4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3183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Final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Decision ask and next steps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1828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"/>
            <a:ext cx="1320394" cy="347472"/>
          </a:xfrm>
          <a:prstGeom prst="rect">
            <a:avLst/>
          </a:prstGeom>
        </p:spPr>
      </p:pic>
      <p:pic>
        <p:nvPicPr>
          <p:cNvPr id="6" name="Picture 5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73152"/>
            <a:ext cx="140817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837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Final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Consulting conclusion — governed enterprise AI for DAMAC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DAMAC | Enterprise AI Governance &amp; Intelligence Layer for PMWeb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236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31837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61872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Build the Enterprise AI Orchestration Layer first — before production AI workloads.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Avoid direct AI-to-database architecture — API-first governed PMWeb connectivity only.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Standardize on Claude Enterprise as the enterprise AI platform for PMWeb intelligence.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Deploy AI as a governed layer that explains enterprise truth with citations.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Start with Contract Intelligence POC (Phase 1) — demonstrable value by Week 3.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Complete full program scope in 2–3 months (Phases 1–4).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261872"/>
            <a:ext cx="4114800" cy="3200400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4447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1837"/>
                </a:solidFill>
                <a:latin typeface="Calibri"/>
              </a:defRPr>
            </a:pPr>
            <a:r>
              <a:t>Decision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01952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Approve Phase 1 POC budget &amp; team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Nominate DAMAC executive sponsor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Confirm PMWeb API access scope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Approve Claude Enterprise as AI standard</a:t>
            </a:r>
          </a:p>
          <a:p>
            <a:pPr>
              <a:spcAft>
                <a:spcPts val="5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• Establish AI governance steering committee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438912"/>
          </a:xfrm>
          <a:prstGeom prst="roundRect">
            <a:avLst/>
          </a:prstGeom>
          <a:solidFill>
            <a:srgbClr val="FDF2F4"/>
          </a:solidFill>
          <a:ln w="9525">
            <a:solidFill>
              <a:srgbClr val="E31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1228"/>
                </a:solidFill>
                <a:latin typeface="Calibri"/>
              </a:defRPr>
            </a:pPr>
            <a:r>
              <a:t>Build the intelligence layer that governs how AI serves DAMAC — not ungoverned connectivity.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m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1737360" cy="457200"/>
          </a:xfrm>
          <a:prstGeom prst="rect">
            <a:avLst/>
          </a:prstGeom>
        </p:spPr>
      </p:pic>
      <p:pic>
        <p:nvPicPr>
          <p:cNvPr id="4" name="Picture 3" descr="cm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51560"/>
            <a:ext cx="166420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31837"/>
                </a:solidFill>
                <a:latin typeface="Calibri"/>
              </a:defRPr>
            </a:pPr>
            <a:r>
              <a:t>Enterprise AI Governance &amp; Intelligence Layer for PMWeb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CMCS × DAMAC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